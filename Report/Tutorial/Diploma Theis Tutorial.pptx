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2" r:id="rId3"/>
    <p:sldId id="283" r:id="rId4"/>
    <p:sldId id="284" r:id="rId5"/>
    <p:sldId id="285" r:id="rId6"/>
    <p:sldId id="286" r:id="rId7"/>
    <p:sldId id="281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9" r:id="rId19"/>
    <p:sldId id="270" r:id="rId20"/>
    <p:sldId id="271" r:id="rId21"/>
    <p:sldId id="272" r:id="rId22"/>
    <p:sldId id="273" r:id="rId23"/>
    <p:sldId id="268" r:id="rId24"/>
    <p:sldId id="274" r:id="rId25"/>
    <p:sldId id="278" r:id="rId26"/>
    <p:sldId id="275" r:id="rId27"/>
    <p:sldId id="276" r:id="rId28"/>
    <p:sldId id="257" r:id="rId29"/>
    <p:sldId id="277" r:id="rId30"/>
    <p:sldId id="279" r:id="rId31"/>
    <p:sldId id="280" r:id="rId32"/>
  </p:sldIdLst>
  <p:sldSz cx="9144000" cy="6858000" type="screen4x3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>
      <p:cViewPr varScale="1">
        <p:scale>
          <a:sx n="111" d="100"/>
          <a:sy n="111" d="100"/>
        </p:scale>
        <p:origin x="-1642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l-GR" smtClean="0"/>
              <a:t>Kλικ για επεξεργασία του τίτλου</a:t>
            </a:r>
            <a:endParaRPr lang="el-GR"/>
          </a:p>
        </p:txBody>
      </p:sp>
      <p:sp>
        <p:nvSpPr>
          <p:cNvPr id="3" name="2 - Υπότιτλος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l-GR" smtClean="0"/>
              <a:t>Κάντε κλικ για να επεξεργαστείτε τον υπότιτλο του υποδείγματος</a:t>
            </a:r>
            <a:endParaRPr lang="el-GR"/>
          </a:p>
        </p:txBody>
      </p:sp>
      <p:sp>
        <p:nvSpPr>
          <p:cNvPr id="4" name="3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5762B-7AAA-44B9-807D-B2D2A2593CF1}" type="datetimeFigureOut">
              <a:rPr lang="el-GR" smtClean="0"/>
              <a:pPr/>
              <a:t>18/9/2025</a:t>
            </a:fld>
            <a:endParaRPr lang="el-GR"/>
          </a:p>
        </p:txBody>
      </p:sp>
      <p:sp>
        <p:nvSpPr>
          <p:cNvPr id="5" name="4 - Θέση υποσέλιδου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5 - Θέση αριθμού διαφάνειας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5EF04-A0A7-4FF9-BFDF-D23AAD01C8B4}" type="slidenum">
              <a:rPr lang="el-GR" smtClean="0"/>
              <a:pPr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Αντι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mtClean="0"/>
              <a:t>Kλικ για επεξεργασία του τίτλου</a:t>
            </a:r>
            <a:endParaRPr lang="el-GR"/>
          </a:p>
        </p:txBody>
      </p:sp>
      <p:sp>
        <p:nvSpPr>
          <p:cNvPr id="3" name="2 - Θέση περιεχομένου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 smtClean="0"/>
              <a:t>Kλικ για επεξεργασία των στυλ του υποδείγματος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3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5762B-7AAA-44B9-807D-B2D2A2593CF1}" type="datetimeFigureOut">
              <a:rPr lang="el-GR" smtClean="0"/>
              <a:pPr/>
              <a:t>18/9/2025</a:t>
            </a:fld>
            <a:endParaRPr lang="el-GR"/>
          </a:p>
        </p:txBody>
      </p:sp>
      <p:sp>
        <p:nvSpPr>
          <p:cNvPr id="5" name="4 - Θέση υποσέλιδου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5 - Θέση αριθμού διαφάνειας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5EF04-A0A7-4FF9-BFDF-D23AAD01C8B4}" type="slidenum">
              <a:rPr lang="el-GR" smtClean="0"/>
              <a:pPr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l-GR" smtClean="0"/>
              <a:t>Kλικ για επεξεργασία του τίτλου</a:t>
            </a:r>
            <a:endParaRPr lang="el-GR"/>
          </a:p>
        </p:txBody>
      </p:sp>
      <p:sp>
        <p:nvSpPr>
          <p:cNvPr id="3" name="2 - Θέση κειμένου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 smtClean="0"/>
              <a:t>Kλικ για επεξεργασία των στυλ του υποδείγματος</a:t>
            </a:r>
          </a:p>
        </p:txBody>
      </p:sp>
      <p:sp>
        <p:nvSpPr>
          <p:cNvPr id="4" name="3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5762B-7AAA-44B9-807D-B2D2A2593CF1}" type="datetimeFigureOut">
              <a:rPr lang="el-GR" smtClean="0"/>
              <a:pPr/>
              <a:t>18/9/2025</a:t>
            </a:fld>
            <a:endParaRPr lang="el-GR"/>
          </a:p>
        </p:txBody>
      </p:sp>
      <p:sp>
        <p:nvSpPr>
          <p:cNvPr id="5" name="4 - Θέση υποσέλιδου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5 - Θέση αριθμού διαφάνειας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5EF04-A0A7-4FF9-BFDF-D23AAD01C8B4}" type="slidenum">
              <a:rPr lang="el-GR" smtClean="0"/>
              <a:pPr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mtClean="0"/>
              <a:t>Kλικ για επεξεργασία του τίτλου</a:t>
            </a:r>
            <a:endParaRPr lang="el-GR"/>
          </a:p>
        </p:txBody>
      </p:sp>
      <p:sp>
        <p:nvSpPr>
          <p:cNvPr id="3" name="2 - Θέση περιεχομένου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l-GR" smtClean="0"/>
              <a:t>Kλικ για επεξεργασία των στυλ του υποδείγματος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3 - Θέση περιεχομένου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l-GR" smtClean="0"/>
              <a:t>Kλικ για επεξεργασία των στυλ του υποδείγματος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5" name="4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5762B-7AAA-44B9-807D-B2D2A2593CF1}" type="datetimeFigureOut">
              <a:rPr lang="el-GR" smtClean="0"/>
              <a:pPr/>
              <a:t>18/9/2025</a:t>
            </a:fld>
            <a:endParaRPr lang="el-GR"/>
          </a:p>
        </p:txBody>
      </p:sp>
      <p:sp>
        <p:nvSpPr>
          <p:cNvPr id="6" name="5 - Θέση υποσέλιδου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6 - Θέση αριθμού διαφάνειας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5EF04-A0A7-4FF9-BFDF-D23AAD01C8B4}" type="slidenum">
              <a:rPr lang="el-GR" smtClean="0"/>
              <a:pPr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l-GR" smtClean="0"/>
              <a:t>Kλικ για επεξεργασία του τίτλου</a:t>
            </a:r>
            <a:endParaRPr lang="el-GR"/>
          </a:p>
        </p:txBody>
      </p:sp>
      <p:sp>
        <p:nvSpPr>
          <p:cNvPr id="3" name="2 - Θέση κειμένου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 smtClean="0"/>
              <a:t>Kλικ για επεξεργασία των στυλ του υποδείγματος</a:t>
            </a:r>
          </a:p>
        </p:txBody>
      </p:sp>
      <p:sp>
        <p:nvSpPr>
          <p:cNvPr id="4" name="3 - Θέση περιεχομένου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l-GR" smtClean="0"/>
              <a:t>Kλικ για επεξεργασία των στυλ του υποδείγματος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5" name="4 - Θέση κειμένου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 smtClean="0"/>
              <a:t>Kλικ για επεξεργασία των στυλ του υποδείγματος</a:t>
            </a:r>
          </a:p>
        </p:txBody>
      </p:sp>
      <p:sp>
        <p:nvSpPr>
          <p:cNvPr id="6" name="5 - Θέση περιεχομένου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l-GR" smtClean="0"/>
              <a:t>Kλικ για επεξεργασία των στυλ του υποδείγματος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7" name="6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5762B-7AAA-44B9-807D-B2D2A2593CF1}" type="datetimeFigureOut">
              <a:rPr lang="el-GR" smtClean="0"/>
              <a:pPr/>
              <a:t>18/9/2025</a:t>
            </a:fld>
            <a:endParaRPr lang="el-GR"/>
          </a:p>
        </p:txBody>
      </p:sp>
      <p:sp>
        <p:nvSpPr>
          <p:cNvPr id="8" name="7 - Θέση υποσέλιδου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8 - Θέση αριθμού διαφάνειας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5EF04-A0A7-4FF9-BFDF-D23AAD01C8B4}" type="slidenum">
              <a:rPr lang="el-GR" smtClean="0"/>
              <a:pPr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mtClean="0"/>
              <a:t>Kλικ για επεξεργασία του τίτλου</a:t>
            </a:r>
            <a:endParaRPr lang="el-GR"/>
          </a:p>
        </p:txBody>
      </p:sp>
      <p:sp>
        <p:nvSpPr>
          <p:cNvPr id="3" name="2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5762B-7AAA-44B9-807D-B2D2A2593CF1}" type="datetimeFigureOut">
              <a:rPr lang="el-GR" smtClean="0"/>
              <a:pPr/>
              <a:t>18/9/2025</a:t>
            </a:fld>
            <a:endParaRPr lang="el-GR"/>
          </a:p>
        </p:txBody>
      </p:sp>
      <p:sp>
        <p:nvSpPr>
          <p:cNvPr id="4" name="3 - Θέση υποσέλιδου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4 - Θέση αριθμού διαφάνειας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5EF04-A0A7-4FF9-BFDF-D23AAD01C8B4}" type="slidenum">
              <a:rPr lang="el-GR" smtClean="0"/>
              <a:pPr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5762B-7AAA-44B9-807D-B2D2A2593CF1}" type="datetimeFigureOut">
              <a:rPr lang="el-GR" smtClean="0"/>
              <a:pPr/>
              <a:t>18/9/2025</a:t>
            </a:fld>
            <a:endParaRPr lang="el-GR"/>
          </a:p>
        </p:txBody>
      </p:sp>
      <p:sp>
        <p:nvSpPr>
          <p:cNvPr id="3" name="2 - Θέση υποσέλιδου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3 - Θέση αριθμού διαφάνειας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5EF04-A0A7-4FF9-BFDF-D23AAD01C8B4}" type="slidenum">
              <a:rPr lang="el-GR" smtClean="0"/>
              <a:pPr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l-GR" smtClean="0"/>
              <a:t>Kλικ για επεξεργασία του τίτλου</a:t>
            </a:r>
            <a:endParaRPr lang="el-GR"/>
          </a:p>
        </p:txBody>
      </p:sp>
      <p:sp>
        <p:nvSpPr>
          <p:cNvPr id="3" name="2 - Θέση περιεχομένου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 smtClean="0"/>
              <a:t>Kλικ για επεξεργασία των στυλ του υποδείγματος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3 - Θέση κειμένου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 smtClean="0"/>
              <a:t>Kλικ για επεξεργασία των στυλ του υποδείγματος</a:t>
            </a:r>
          </a:p>
        </p:txBody>
      </p:sp>
      <p:sp>
        <p:nvSpPr>
          <p:cNvPr id="5" name="4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5762B-7AAA-44B9-807D-B2D2A2593CF1}" type="datetimeFigureOut">
              <a:rPr lang="el-GR" smtClean="0"/>
              <a:pPr/>
              <a:t>18/9/2025</a:t>
            </a:fld>
            <a:endParaRPr lang="el-GR"/>
          </a:p>
        </p:txBody>
      </p:sp>
      <p:sp>
        <p:nvSpPr>
          <p:cNvPr id="6" name="5 - Θέση υποσέλιδου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6 - Θέση αριθμού διαφάνειας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5EF04-A0A7-4FF9-BFDF-D23AAD01C8B4}" type="slidenum">
              <a:rPr lang="el-GR" smtClean="0"/>
              <a:pPr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l-GR" smtClean="0"/>
              <a:t>Kλικ για επεξεργασία του τίτλου</a:t>
            </a:r>
            <a:endParaRPr lang="el-GR"/>
          </a:p>
        </p:txBody>
      </p:sp>
      <p:sp>
        <p:nvSpPr>
          <p:cNvPr id="3" name="2 - Θέση εικόνας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3 - Θέση κειμένου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 smtClean="0"/>
              <a:t>Kλικ για επεξεργασία των στυλ του υποδείγματος</a:t>
            </a:r>
          </a:p>
        </p:txBody>
      </p:sp>
      <p:sp>
        <p:nvSpPr>
          <p:cNvPr id="5" name="4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5762B-7AAA-44B9-807D-B2D2A2593CF1}" type="datetimeFigureOut">
              <a:rPr lang="el-GR" smtClean="0"/>
              <a:pPr/>
              <a:t>18/9/2025</a:t>
            </a:fld>
            <a:endParaRPr lang="el-GR"/>
          </a:p>
        </p:txBody>
      </p:sp>
      <p:sp>
        <p:nvSpPr>
          <p:cNvPr id="6" name="5 - Θέση υποσέλιδου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6 - Θέση αριθμού διαφάνειας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5EF04-A0A7-4FF9-BFDF-D23AAD01C8B4}" type="slidenum">
              <a:rPr lang="el-GR" smtClean="0"/>
              <a:pPr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mtClean="0"/>
              <a:t>Kλικ για επεξεργασία του τίτλου</a:t>
            </a:r>
            <a:endParaRPr lang="el-GR"/>
          </a:p>
        </p:txBody>
      </p:sp>
      <p:sp>
        <p:nvSpPr>
          <p:cNvPr id="3" name="2 - Θέση κατακόρυφου κειμένου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 smtClean="0"/>
              <a:t>Kλικ για επεξεργασία των στυλ του υποδείγματος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3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5762B-7AAA-44B9-807D-B2D2A2593CF1}" type="datetimeFigureOut">
              <a:rPr lang="el-GR" smtClean="0"/>
              <a:pPr/>
              <a:t>18/9/2025</a:t>
            </a:fld>
            <a:endParaRPr lang="el-GR"/>
          </a:p>
        </p:txBody>
      </p:sp>
      <p:sp>
        <p:nvSpPr>
          <p:cNvPr id="5" name="4 - Θέση υποσέλιδου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5 - Θέση αριθμού διαφάνειας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5EF04-A0A7-4FF9-BFDF-D23AAD01C8B4}" type="slidenum">
              <a:rPr lang="el-GR" smtClean="0"/>
              <a:pPr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Κατακόρυφος τίτλος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l-GR" smtClean="0"/>
              <a:t>Kλικ για επεξεργασία του τίτλου</a:t>
            </a:r>
            <a:endParaRPr lang="el-GR"/>
          </a:p>
        </p:txBody>
      </p:sp>
      <p:sp>
        <p:nvSpPr>
          <p:cNvPr id="3" name="2 - Θέση κατακόρυφου κειμένου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l-GR" smtClean="0"/>
              <a:t>Kλικ για επεξεργασία των στυλ του υποδείγματος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3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5762B-7AAA-44B9-807D-B2D2A2593CF1}" type="datetimeFigureOut">
              <a:rPr lang="el-GR" smtClean="0"/>
              <a:pPr/>
              <a:t>18/9/2025</a:t>
            </a:fld>
            <a:endParaRPr lang="el-GR"/>
          </a:p>
        </p:txBody>
      </p:sp>
      <p:sp>
        <p:nvSpPr>
          <p:cNvPr id="5" name="4 - Θέση υποσέλιδου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5 - Θέση αριθμού διαφάνειας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5EF04-A0A7-4FF9-BFDF-D23AAD01C8B4}" type="slidenum">
              <a:rPr lang="el-GR" smtClean="0"/>
              <a:pPr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Θέση τίτλου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 smtClean="0"/>
              <a:t>Kλικ για επεξεργασία του τίτλου</a:t>
            </a:r>
            <a:endParaRPr lang="el-GR"/>
          </a:p>
        </p:txBody>
      </p:sp>
      <p:sp>
        <p:nvSpPr>
          <p:cNvPr id="3" name="2 - Θέση κειμένου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 smtClean="0"/>
              <a:t>Kλικ για επεξεργασία των στυλ του υποδείγματος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3 - Θέση ημερομηνίας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85762B-7AAA-44B9-807D-B2D2A2593CF1}" type="datetimeFigureOut">
              <a:rPr lang="el-GR" smtClean="0"/>
              <a:pPr/>
              <a:t>18/9/2025</a:t>
            </a:fld>
            <a:endParaRPr lang="el-GR"/>
          </a:p>
        </p:txBody>
      </p:sp>
      <p:sp>
        <p:nvSpPr>
          <p:cNvPr id="5" name="4 - Θέση υποσέλιδου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5 - Θέση αριθμού διαφάνειας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D5EF04-A0A7-4FF9-BFDF-D23AAD01C8B4}" type="slidenum">
              <a:rPr lang="el-GR" smtClean="0"/>
              <a:pPr/>
              <a:t>‹#›</a:t>
            </a:fld>
            <a:endParaRPr lang="el-G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Vasilisdi/Vibration-Analysis-Project/tree/main/arduino/src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asilisdi/2.nextjs" TargetMode="External"/><Relationship Id="rId2" Type="http://schemas.openxmlformats.org/officeDocument/2006/relationships/hyperlink" Target="https://github.com/Vasilisdi/Vasilisdi-DiplomaUTH_Arduino-Raspberry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Diploma Thesis </a:t>
            </a:r>
            <a:r>
              <a:rPr lang="en-US" dirty="0" smtClean="0"/>
              <a:t>Tutorial</a:t>
            </a:r>
            <a:endParaRPr lang="el-GR" dirty="0"/>
          </a:p>
        </p:txBody>
      </p:sp>
      <p:sp>
        <p:nvSpPr>
          <p:cNvPr id="3" name="2 - Υπότιτλος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/>
              <a:t>Dimitriou</a:t>
            </a:r>
            <a:r>
              <a:rPr lang="en-US" dirty="0" smtClean="0"/>
              <a:t> </a:t>
            </a:r>
            <a:r>
              <a:rPr lang="en-US" dirty="0" err="1" smtClean="0"/>
              <a:t>Vasileios</a:t>
            </a:r>
            <a:endParaRPr lang="el-G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Tutorial (1)</a:t>
            </a:r>
            <a:endParaRPr lang="el-GR" dirty="0"/>
          </a:p>
        </p:txBody>
      </p:sp>
      <p:sp>
        <p:nvSpPr>
          <p:cNvPr id="3" name="2 - Θέση περιεχομένου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Arduino</a:t>
            </a:r>
            <a:r>
              <a:rPr lang="en-US" dirty="0" smtClean="0"/>
              <a:t> to PC connection</a:t>
            </a:r>
            <a:endParaRPr lang="el-GR" dirty="0"/>
          </a:p>
        </p:txBody>
      </p:sp>
      <p:pic>
        <p:nvPicPr>
          <p:cNvPr id="1027" name="Picture 3" descr="C:\Users\arian\Desktop\Diploma Thesis\Technical-Report\Report\tutorial\testing arduino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95736" y="2204864"/>
            <a:ext cx="4722604" cy="424489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Tutorial (2)</a:t>
            </a:r>
            <a:endParaRPr lang="el-GR" dirty="0"/>
          </a:p>
        </p:txBody>
      </p:sp>
      <p:sp>
        <p:nvSpPr>
          <p:cNvPr id="3" name="2 - Θέση περιεχομένου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Arduino</a:t>
            </a:r>
            <a:r>
              <a:rPr lang="en-US" dirty="0" smtClean="0"/>
              <a:t> UART (serial com check)</a:t>
            </a:r>
            <a:endParaRPr lang="el-GR" dirty="0"/>
          </a:p>
        </p:txBody>
      </p:sp>
      <p:pic>
        <p:nvPicPr>
          <p:cNvPr id="2050" name="Picture 2" descr="C:\Users\arian\Desktop\Diploma Thesis\Technical-Report\Report\tutorial\arduino UART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2348880"/>
            <a:ext cx="7069313" cy="385794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Tutorial (3)</a:t>
            </a:r>
            <a:endParaRPr lang="el-GR" dirty="0"/>
          </a:p>
        </p:txBody>
      </p:sp>
      <p:pic>
        <p:nvPicPr>
          <p:cNvPr id="4" name="3 - Θέση περιεχομένου" descr="deployment picture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123728" y="2924944"/>
            <a:ext cx="4754555" cy="3688113"/>
          </a:xfrm>
        </p:spPr>
      </p:pic>
      <p:sp>
        <p:nvSpPr>
          <p:cNvPr id="5" name="4 - TextBox"/>
          <p:cNvSpPr txBox="1"/>
          <p:nvPr/>
        </p:nvSpPr>
        <p:spPr>
          <a:xfrm>
            <a:off x="467544" y="1556792"/>
            <a:ext cx="8280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Arduino</a:t>
            </a:r>
            <a:r>
              <a:rPr lang="en-US" dirty="0" smtClean="0"/>
              <a:t> to Rasp connection</a:t>
            </a:r>
            <a:endParaRPr lang="el-G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Tutorial (4)</a:t>
            </a:r>
            <a:endParaRPr lang="el-GR" dirty="0"/>
          </a:p>
        </p:txBody>
      </p:sp>
      <p:pic>
        <p:nvPicPr>
          <p:cNvPr id="4" name="3 - Θέση περιεχομένου" descr="ssh for  Raspberry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67544" y="2708920"/>
            <a:ext cx="8229600" cy="3501837"/>
          </a:xfrm>
        </p:spPr>
      </p:pic>
      <p:sp>
        <p:nvSpPr>
          <p:cNvPr id="5" name="4 - TextBox"/>
          <p:cNvSpPr txBox="1"/>
          <p:nvPr/>
        </p:nvSpPr>
        <p:spPr>
          <a:xfrm>
            <a:off x="467544" y="1412776"/>
            <a:ext cx="8136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Remote control commands on Raspberry Pi  for readings receiving</a:t>
            </a:r>
            <a:endParaRPr lang="el-GR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Tutorial (5)</a:t>
            </a:r>
            <a:endParaRPr lang="el-GR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2780928"/>
            <a:ext cx="6995120" cy="3720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4 - TextBox"/>
          <p:cNvSpPr txBox="1"/>
          <p:nvPr/>
        </p:nvSpPr>
        <p:spPr>
          <a:xfrm>
            <a:off x="467544" y="1628800"/>
            <a:ext cx="8280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Open the </a:t>
            </a:r>
            <a:r>
              <a:rPr lang="en-US" dirty="0" err="1" smtClean="0"/>
              <a:t>vercel</a:t>
            </a:r>
            <a:r>
              <a:rPr lang="en-US" dirty="0" smtClean="0"/>
              <a:t> page for remote results visualization</a:t>
            </a:r>
            <a:endParaRPr lang="el-G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>
          <a:xfrm>
            <a:off x="467544" y="2780928"/>
            <a:ext cx="8229600" cy="1143000"/>
          </a:xfrm>
        </p:spPr>
        <p:txBody>
          <a:bodyPr/>
          <a:lstStyle/>
          <a:p>
            <a:r>
              <a:rPr lang="en-US" dirty="0" smtClean="0"/>
              <a:t>DETAILS</a:t>
            </a:r>
            <a:endParaRPr lang="el-GR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l-GR" dirty="0" smtClean="0"/>
              <a:t>Περιγραφή </a:t>
            </a:r>
            <a:r>
              <a:rPr lang="en-US" dirty="0" smtClean="0"/>
              <a:t>Hardware (1)</a:t>
            </a:r>
            <a:endParaRPr lang="el-GR" dirty="0"/>
          </a:p>
        </p:txBody>
      </p:sp>
      <p:pic>
        <p:nvPicPr>
          <p:cNvPr id="4" name="3 - Θέση περιεχομένου" descr="adxl335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972804" y="1600200"/>
            <a:ext cx="5198391" cy="4525963"/>
          </a:xfr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 smtClean="0"/>
              <a:t>Περιγραφή </a:t>
            </a:r>
            <a:r>
              <a:rPr lang="en-US" dirty="0" smtClean="0"/>
              <a:t>Hardware (2)</a:t>
            </a:r>
            <a:endParaRPr lang="el-GR" dirty="0"/>
          </a:p>
        </p:txBody>
      </p:sp>
      <p:sp>
        <p:nvSpPr>
          <p:cNvPr id="3" name="2 - Θέση περιεχομένου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l-GR" dirty="0" smtClean="0"/>
              <a:t>Παροχή ρεύματος στο </a:t>
            </a:r>
            <a:r>
              <a:rPr lang="el-GR" dirty="0" err="1" smtClean="0"/>
              <a:t>αξελερόμετρο</a:t>
            </a:r>
            <a:r>
              <a:rPr lang="el-GR" dirty="0" smtClean="0"/>
              <a:t> </a:t>
            </a:r>
            <a:r>
              <a:rPr lang="en-US" dirty="0" smtClean="0"/>
              <a:t>ADXL335</a:t>
            </a:r>
            <a:r>
              <a:rPr lang="el-GR" dirty="0" smtClean="0"/>
              <a:t> από το εν λειτουργία </a:t>
            </a:r>
            <a:r>
              <a:rPr lang="en-US" dirty="0" err="1" smtClean="0"/>
              <a:t>Arduino</a:t>
            </a:r>
            <a:r>
              <a:rPr lang="en-US" dirty="0" smtClean="0"/>
              <a:t> UNO</a:t>
            </a:r>
          </a:p>
          <a:p>
            <a:r>
              <a:rPr lang="el-GR" dirty="0" smtClean="0"/>
              <a:t>Διαθέτει το </a:t>
            </a:r>
            <a:r>
              <a:rPr lang="en-US" dirty="0" smtClean="0"/>
              <a:t>ADXL335 </a:t>
            </a:r>
            <a:r>
              <a:rPr lang="el-GR" dirty="0" smtClean="0"/>
              <a:t>τρεις αναλογικές εξόδους για μετρήσεις στο </a:t>
            </a:r>
            <a:r>
              <a:rPr lang="el-GR" dirty="0" err="1" smtClean="0"/>
              <a:t>ορθοκανονικό</a:t>
            </a:r>
            <a:r>
              <a:rPr lang="el-GR" dirty="0" smtClean="0"/>
              <a:t> σύστημα συντεταγμένων</a:t>
            </a:r>
          </a:p>
          <a:p>
            <a:r>
              <a:rPr lang="el-GR" dirty="0" smtClean="0"/>
              <a:t>Οι τρεις έξοδοι </a:t>
            </a:r>
            <a:r>
              <a:rPr lang="en-US" dirty="0" err="1" smtClean="0"/>
              <a:t>x,y,z</a:t>
            </a:r>
            <a:r>
              <a:rPr lang="en-US" dirty="0" smtClean="0"/>
              <a:t> </a:t>
            </a:r>
            <a:r>
              <a:rPr lang="el-GR" dirty="0" smtClean="0"/>
              <a:t>αναπαριστώνται πάνω στο </a:t>
            </a:r>
            <a:r>
              <a:rPr lang="en-US" dirty="0" smtClean="0"/>
              <a:t>ADXL335 Breakout</a:t>
            </a:r>
            <a:endParaRPr lang="el-GR" dirty="0" smtClean="0"/>
          </a:p>
          <a:p>
            <a:r>
              <a:rPr lang="el-GR" dirty="0" smtClean="0"/>
              <a:t>Οι τρεις αναλογικές έξοδοι συνδέονται σε τρεις αναλογικές εισόδους του </a:t>
            </a:r>
            <a:r>
              <a:rPr lang="en-US" dirty="0" err="1" smtClean="0"/>
              <a:t>Arduino</a:t>
            </a:r>
            <a:r>
              <a:rPr lang="en-US" dirty="0" smtClean="0"/>
              <a:t> (A0,A1,A2)</a:t>
            </a:r>
            <a:endParaRPr lang="el-GR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 smtClean="0"/>
              <a:t>Περιγραφή </a:t>
            </a:r>
            <a:r>
              <a:rPr lang="en-US" dirty="0" smtClean="0"/>
              <a:t>Hardware (3)</a:t>
            </a:r>
            <a:endParaRPr lang="el-GR" dirty="0"/>
          </a:p>
        </p:txBody>
      </p:sp>
      <p:pic>
        <p:nvPicPr>
          <p:cNvPr id="4" name="3 - Θέση περιεχομένου" descr="adxl335 &amp; rasp pi4 &amp; arduino uno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895031" y="2125671"/>
            <a:ext cx="7353938" cy="3475021"/>
          </a:xfr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 smtClean="0"/>
              <a:t>Περιγραφή </a:t>
            </a:r>
            <a:r>
              <a:rPr lang="en-US" dirty="0" smtClean="0"/>
              <a:t>Hardware (4)</a:t>
            </a:r>
            <a:endParaRPr lang="el-GR" dirty="0"/>
          </a:p>
        </p:txBody>
      </p:sp>
      <p:sp>
        <p:nvSpPr>
          <p:cNvPr id="3" name="2 - Θέση περιεχομένου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l-GR" dirty="0" smtClean="0"/>
              <a:t>Το</a:t>
            </a:r>
            <a:r>
              <a:rPr lang="en-US" dirty="0" smtClean="0"/>
              <a:t> </a:t>
            </a:r>
            <a:r>
              <a:rPr lang="en-US" dirty="0" err="1" smtClean="0"/>
              <a:t>Arduino</a:t>
            </a:r>
            <a:r>
              <a:rPr lang="en-US" dirty="0" smtClean="0"/>
              <a:t> </a:t>
            </a:r>
            <a:r>
              <a:rPr lang="el-GR" dirty="0" smtClean="0"/>
              <a:t>συνδέεται σε ένα </a:t>
            </a:r>
            <a:r>
              <a:rPr lang="en-US" dirty="0" smtClean="0"/>
              <a:t>Raspberry Pi 4 </a:t>
            </a:r>
          </a:p>
          <a:p>
            <a:r>
              <a:rPr lang="el-GR" dirty="0" smtClean="0"/>
              <a:t>Η σύνδεση γίνεται μεταξύ της </a:t>
            </a:r>
            <a:r>
              <a:rPr lang="en-US" dirty="0" smtClean="0"/>
              <a:t>Serial Port </a:t>
            </a:r>
            <a:r>
              <a:rPr lang="el-GR" dirty="0" smtClean="0"/>
              <a:t>του </a:t>
            </a:r>
            <a:r>
              <a:rPr lang="en-US" dirty="0" err="1" smtClean="0"/>
              <a:t>Arduino</a:t>
            </a:r>
            <a:r>
              <a:rPr lang="en-US" dirty="0" smtClean="0"/>
              <a:t> </a:t>
            </a:r>
            <a:r>
              <a:rPr lang="el-GR" dirty="0" smtClean="0"/>
              <a:t>και </a:t>
            </a:r>
            <a:r>
              <a:rPr lang="en-US" dirty="0" smtClean="0"/>
              <a:t>USB port </a:t>
            </a:r>
            <a:r>
              <a:rPr lang="el-GR" dirty="0" smtClean="0"/>
              <a:t>του </a:t>
            </a:r>
            <a:r>
              <a:rPr lang="de-DE" dirty="0" err="1" smtClean="0"/>
              <a:t>Raspberr</a:t>
            </a:r>
            <a:r>
              <a:rPr lang="en-US" dirty="0" smtClean="0"/>
              <a:t>y Pi</a:t>
            </a:r>
          </a:p>
          <a:p>
            <a:r>
              <a:rPr lang="el-GR" dirty="0" smtClean="0"/>
              <a:t>Αυτό αποσκοπεί στην διοχέτευση δεδομένων από το </a:t>
            </a:r>
            <a:r>
              <a:rPr lang="en-US" dirty="0" err="1" smtClean="0"/>
              <a:t>Arduino</a:t>
            </a:r>
            <a:r>
              <a:rPr lang="en-US" dirty="0" smtClean="0"/>
              <a:t> </a:t>
            </a:r>
            <a:r>
              <a:rPr lang="el-GR" dirty="0" smtClean="0"/>
              <a:t>στο </a:t>
            </a:r>
            <a:r>
              <a:rPr lang="de-DE" dirty="0" err="1" smtClean="0"/>
              <a:t>Raspberr</a:t>
            </a:r>
            <a:r>
              <a:rPr lang="en-US" dirty="0" smtClean="0"/>
              <a:t>y</a:t>
            </a:r>
            <a:endParaRPr lang="el-GR" dirty="0" smtClean="0"/>
          </a:p>
          <a:p>
            <a:r>
              <a:rPr lang="el-GR" dirty="0" smtClean="0"/>
              <a:t>Πιο συγκεκριμένα το </a:t>
            </a:r>
            <a:r>
              <a:rPr lang="en-US" dirty="0" err="1" smtClean="0"/>
              <a:t>Arduino</a:t>
            </a:r>
            <a:r>
              <a:rPr lang="en-US" dirty="0" smtClean="0"/>
              <a:t> </a:t>
            </a:r>
            <a:r>
              <a:rPr lang="el-GR" dirty="0" smtClean="0"/>
              <a:t>λαμβάνει μετρήσεις από το αισθητήριο και το </a:t>
            </a:r>
            <a:r>
              <a:rPr lang="en-US" dirty="0" smtClean="0"/>
              <a:t>sketch </a:t>
            </a:r>
            <a:r>
              <a:rPr lang="el-GR" dirty="0" smtClean="0"/>
              <a:t>εκφράζει τα </a:t>
            </a:r>
            <a:r>
              <a:rPr lang="en-US" dirty="0" smtClean="0"/>
              <a:t>V </a:t>
            </a:r>
            <a:r>
              <a:rPr lang="el-GR" dirty="0" smtClean="0"/>
              <a:t>σε </a:t>
            </a:r>
            <a:r>
              <a:rPr lang="en-US" dirty="0" smtClean="0"/>
              <a:t>g-unit </a:t>
            </a:r>
            <a:r>
              <a:rPr lang="el-GR" dirty="0" smtClean="0"/>
              <a:t>ή σε </a:t>
            </a:r>
            <a:r>
              <a:rPr lang="en-US" dirty="0" smtClean="0"/>
              <a:t>mm/s</a:t>
            </a:r>
            <a:r>
              <a:rPr lang="en-US" baseline="30000" dirty="0" smtClean="0"/>
              <a:t>2</a:t>
            </a:r>
            <a:r>
              <a:rPr lang="en-US" dirty="0" smtClean="0"/>
              <a:t> </a:t>
            </a:r>
            <a:endParaRPr lang="el-GR" baseline="30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l-GR" dirty="0" smtClean="0"/>
              <a:t>Περιγραφή </a:t>
            </a:r>
            <a:r>
              <a:rPr lang="en-US" dirty="0" smtClean="0"/>
              <a:t>Software</a:t>
            </a:r>
            <a:r>
              <a:rPr lang="el-GR" dirty="0" smtClean="0"/>
              <a:t> </a:t>
            </a:r>
            <a:r>
              <a:rPr lang="en-US" dirty="0" err="1" smtClean="0"/>
              <a:t>Arduino</a:t>
            </a:r>
            <a:r>
              <a:rPr lang="en-US" dirty="0" smtClean="0"/>
              <a:t> (1)</a:t>
            </a:r>
            <a:endParaRPr lang="el-GR" dirty="0"/>
          </a:p>
        </p:txBody>
      </p:sp>
      <p:sp>
        <p:nvSpPr>
          <p:cNvPr id="3" name="2 - Θέση περιεχομένου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l-GR" dirty="0" smtClean="0"/>
              <a:t>Το </a:t>
            </a:r>
            <a:r>
              <a:rPr lang="en-US" dirty="0" smtClean="0"/>
              <a:t>sketch</a:t>
            </a:r>
            <a:r>
              <a:rPr lang="el-GR" dirty="0" smtClean="0"/>
              <a:t> που χρησιμοποιώ για τις μετρήσεις λαμβάνει τις αναλογικές τιμές από το αισθητήριο χωρίς περαιτέρω επεξεργασία</a:t>
            </a:r>
          </a:p>
          <a:p>
            <a:r>
              <a:rPr lang="el-GR" dirty="0" smtClean="0"/>
              <a:t>Εναλλακτικά μπορούμε να χρησιμοποιήσουμε </a:t>
            </a:r>
            <a:r>
              <a:rPr lang="en-US" dirty="0" smtClean="0"/>
              <a:t>source code </a:t>
            </a:r>
            <a:r>
              <a:rPr lang="el-GR" dirty="0" smtClean="0"/>
              <a:t>όπως φαίνεται στην δεύτερη φωτογραφία για να κάνει την ίδια διαδικασία όμως να στείλει δεδομένα σε μορφή </a:t>
            </a:r>
            <a:r>
              <a:rPr lang="en-US" dirty="0" smtClean="0"/>
              <a:t>g</a:t>
            </a:r>
            <a:r>
              <a:rPr lang="el-GR" dirty="0" smtClean="0"/>
              <a:t> αφότου έχει </a:t>
            </a:r>
            <a:r>
              <a:rPr lang="el-GR" dirty="0" err="1" smtClean="0"/>
              <a:t>καλιμπράρει</a:t>
            </a:r>
            <a:r>
              <a:rPr lang="el-GR" dirty="0" smtClean="0"/>
              <a:t> μόνο του σε κάποια όρια τιμών</a:t>
            </a:r>
          </a:p>
          <a:p>
            <a:r>
              <a:rPr lang="el-GR" dirty="0" smtClean="0"/>
              <a:t>Ο λόγος που προτιμάω την πρώτη επιλογή σε πρώτη φάση είναι επειδή η συχνότητα συνδέεται άμεσα με την μετρούμενη τάση χωρίς να χάνεται πληροφορία πριν τον μετασχηματισμό </a:t>
            </a:r>
            <a:r>
              <a:rPr lang="en-US" dirty="0" smtClean="0"/>
              <a:t>Fourier</a:t>
            </a:r>
            <a:endParaRPr lang="el-GR" dirty="0" smtClean="0"/>
          </a:p>
          <a:p>
            <a:r>
              <a:rPr lang="en-US" dirty="0" smtClean="0">
                <a:hlinkClick r:id="rId2"/>
              </a:rPr>
              <a:t>Vibration-Analysis-Project/</a:t>
            </a:r>
            <a:r>
              <a:rPr lang="en-US" dirty="0" err="1" smtClean="0">
                <a:hlinkClick r:id="rId2"/>
              </a:rPr>
              <a:t>arduino</a:t>
            </a:r>
            <a:r>
              <a:rPr lang="en-US" dirty="0" smtClean="0">
                <a:hlinkClick r:id="rId2"/>
              </a:rPr>
              <a:t>/</a:t>
            </a:r>
            <a:r>
              <a:rPr lang="en-US" dirty="0" err="1" smtClean="0">
                <a:hlinkClick r:id="rId2"/>
              </a:rPr>
              <a:t>src</a:t>
            </a:r>
            <a:r>
              <a:rPr lang="en-US" dirty="0" smtClean="0">
                <a:hlinkClick r:id="rId2"/>
              </a:rPr>
              <a:t> at main · </a:t>
            </a:r>
            <a:r>
              <a:rPr lang="en-US" dirty="0" err="1" smtClean="0">
                <a:hlinkClick r:id="rId2"/>
              </a:rPr>
              <a:t>Vasilisdi</a:t>
            </a:r>
            <a:r>
              <a:rPr lang="en-US" dirty="0" smtClean="0">
                <a:hlinkClick r:id="rId2"/>
              </a:rPr>
              <a:t>/Vibration-Analysis-Project</a:t>
            </a:r>
            <a:endParaRPr lang="el-GR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 smtClean="0"/>
              <a:t>Περιγραφή </a:t>
            </a:r>
            <a:r>
              <a:rPr lang="en-US" dirty="0" smtClean="0"/>
              <a:t>Software</a:t>
            </a:r>
            <a:r>
              <a:rPr lang="el-GR" dirty="0" smtClean="0"/>
              <a:t> </a:t>
            </a:r>
            <a:r>
              <a:rPr lang="en-US" dirty="0" err="1" smtClean="0"/>
              <a:t>Arduino</a:t>
            </a:r>
            <a:r>
              <a:rPr lang="en-US" dirty="0" smtClean="0"/>
              <a:t> (</a:t>
            </a:r>
            <a:r>
              <a:rPr lang="el-GR" dirty="0" smtClean="0"/>
              <a:t>2</a:t>
            </a:r>
            <a:r>
              <a:rPr lang="en-US" dirty="0" smtClean="0"/>
              <a:t>)</a:t>
            </a:r>
            <a:endParaRPr lang="el-GR" dirty="0"/>
          </a:p>
        </p:txBody>
      </p:sp>
      <p:pic>
        <p:nvPicPr>
          <p:cNvPr id="4" name="3 - Θέση περιεχομένου" descr="arduino ino sketch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615190" y="1600200"/>
            <a:ext cx="7913619" cy="4525963"/>
          </a:xfr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 smtClean="0"/>
              <a:t>Περιγραφή </a:t>
            </a:r>
            <a:r>
              <a:rPr lang="en-US" dirty="0" smtClean="0"/>
              <a:t>Software</a:t>
            </a:r>
            <a:r>
              <a:rPr lang="el-GR" dirty="0" smtClean="0"/>
              <a:t> </a:t>
            </a:r>
            <a:r>
              <a:rPr lang="en-US" dirty="0" err="1" smtClean="0"/>
              <a:t>Arduino</a:t>
            </a:r>
            <a:r>
              <a:rPr lang="en-US" dirty="0" smtClean="0"/>
              <a:t> (</a:t>
            </a:r>
            <a:r>
              <a:rPr lang="el-GR" dirty="0" smtClean="0"/>
              <a:t>3</a:t>
            </a:r>
            <a:r>
              <a:rPr lang="en-US" dirty="0" smtClean="0"/>
              <a:t>)</a:t>
            </a:r>
            <a:endParaRPr lang="el-GR" dirty="0"/>
          </a:p>
        </p:txBody>
      </p:sp>
      <p:pic>
        <p:nvPicPr>
          <p:cNvPr id="4" name="3 - Θέση περιεχομένου" descr="source code sketch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239992" y="1600200"/>
            <a:ext cx="2664016" cy="4525963"/>
          </a:xfr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 smtClean="0"/>
              <a:t>Περιγραφή </a:t>
            </a:r>
            <a:r>
              <a:rPr lang="en-US" dirty="0" smtClean="0"/>
              <a:t>Software</a:t>
            </a:r>
            <a:r>
              <a:rPr lang="el-GR" dirty="0" smtClean="0"/>
              <a:t> </a:t>
            </a:r>
            <a:r>
              <a:rPr lang="en-US" dirty="0" smtClean="0"/>
              <a:t>Raspberry (1)</a:t>
            </a:r>
            <a:endParaRPr lang="el-GR" dirty="0"/>
          </a:p>
        </p:txBody>
      </p:sp>
      <p:pic>
        <p:nvPicPr>
          <p:cNvPr id="4" name="3 - Θέση περιεχομένου" descr="Initializing Raspberry project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57200" y="1773372"/>
            <a:ext cx="8229600" cy="4179618"/>
          </a:xfr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 smtClean="0"/>
              <a:t>Περιγραφή </a:t>
            </a:r>
            <a:r>
              <a:rPr lang="en-US" dirty="0" smtClean="0"/>
              <a:t>Software</a:t>
            </a:r>
            <a:r>
              <a:rPr lang="el-GR" dirty="0" smtClean="0"/>
              <a:t> </a:t>
            </a:r>
            <a:r>
              <a:rPr lang="en-US" dirty="0" smtClean="0"/>
              <a:t>Raspberry (2)</a:t>
            </a:r>
            <a:endParaRPr lang="el-GR" dirty="0"/>
          </a:p>
        </p:txBody>
      </p:sp>
      <p:sp>
        <p:nvSpPr>
          <p:cNvPr id="3" name="2 - Θέση περιεχομένου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l-GR" dirty="0" smtClean="0"/>
              <a:t>Δημιουργία ενός περιβάλλοντος </a:t>
            </a:r>
            <a:r>
              <a:rPr lang="en-US" dirty="0" smtClean="0"/>
              <a:t>poetry </a:t>
            </a:r>
            <a:r>
              <a:rPr lang="el-GR" dirty="0" smtClean="0"/>
              <a:t>στο οποίο θα περιλαμβάνονται μόνο τα απαραίτητα </a:t>
            </a:r>
            <a:r>
              <a:rPr lang="de-DE" dirty="0" err="1" smtClean="0"/>
              <a:t>libs</a:t>
            </a:r>
            <a:r>
              <a:rPr lang="de-DE" dirty="0" smtClean="0"/>
              <a:t> </a:t>
            </a:r>
            <a:endParaRPr lang="en-US" dirty="0" smtClean="0"/>
          </a:p>
          <a:p>
            <a:r>
              <a:rPr lang="en-US" dirty="0" smtClean="0"/>
              <a:t>poetry </a:t>
            </a:r>
            <a:r>
              <a:rPr lang="en-US" dirty="0" err="1" smtClean="0"/>
              <a:t>config</a:t>
            </a:r>
            <a:r>
              <a:rPr lang="en-US" dirty="0" smtClean="0"/>
              <a:t> </a:t>
            </a:r>
            <a:r>
              <a:rPr lang="en-US" dirty="0" err="1" smtClean="0"/>
              <a:t>virtualenvs.in</a:t>
            </a:r>
            <a:r>
              <a:rPr lang="en-US" dirty="0" smtClean="0"/>
              <a:t>-project true </a:t>
            </a:r>
            <a:r>
              <a:rPr lang="el-GR" dirty="0" smtClean="0"/>
              <a:t>για να τρέξει μόνο μέσα στο </a:t>
            </a:r>
            <a:r>
              <a:rPr lang="en-US" dirty="0" smtClean="0"/>
              <a:t>project folder</a:t>
            </a:r>
            <a:endParaRPr lang="el-GR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 smtClean="0"/>
              <a:t>Περιγραφή </a:t>
            </a:r>
            <a:r>
              <a:rPr lang="en-US" dirty="0" smtClean="0"/>
              <a:t>Software</a:t>
            </a:r>
            <a:r>
              <a:rPr lang="el-GR" dirty="0" smtClean="0"/>
              <a:t> </a:t>
            </a:r>
            <a:r>
              <a:rPr lang="en-US" dirty="0" smtClean="0"/>
              <a:t>Raspberry (3)</a:t>
            </a:r>
            <a:endParaRPr lang="el-GR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5988" y="1600200"/>
            <a:ext cx="8092024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 smtClean="0"/>
              <a:t>Περιγραφή </a:t>
            </a:r>
            <a:r>
              <a:rPr lang="en-US" dirty="0" smtClean="0"/>
              <a:t>Software</a:t>
            </a:r>
            <a:r>
              <a:rPr lang="el-GR" dirty="0" smtClean="0"/>
              <a:t> </a:t>
            </a:r>
            <a:r>
              <a:rPr lang="en-US" dirty="0" smtClean="0"/>
              <a:t>Raspberry (3)</a:t>
            </a:r>
            <a:endParaRPr lang="el-GR" dirty="0"/>
          </a:p>
        </p:txBody>
      </p:sp>
      <p:sp>
        <p:nvSpPr>
          <p:cNvPr id="3" name="2 - Θέση περιεχομένου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l-GR" dirty="0" smtClean="0"/>
              <a:t>Τελικά το θα έχουμε βάλει στο </a:t>
            </a:r>
            <a:r>
              <a:rPr lang="de-DE" dirty="0" smtClean="0"/>
              <a:t>p</a:t>
            </a:r>
            <a:r>
              <a:rPr lang="en-US" dirty="0" err="1" smtClean="0"/>
              <a:t>yproject.toml</a:t>
            </a:r>
            <a:r>
              <a:rPr lang="en-US" dirty="0" smtClean="0"/>
              <a:t>:</a:t>
            </a:r>
          </a:p>
          <a:p>
            <a:r>
              <a:rPr lang="en-US" dirty="0" smtClean="0"/>
              <a:t>#python add </a:t>
            </a:r>
            <a:r>
              <a:rPr lang="en-US" dirty="0" err="1" smtClean="0"/>
              <a:t>pyyaml</a:t>
            </a:r>
            <a:endParaRPr lang="en-US" dirty="0" smtClean="0"/>
          </a:p>
          <a:p>
            <a:r>
              <a:rPr lang="en-US" dirty="0" smtClean="0"/>
              <a:t>#poetry add python-</a:t>
            </a:r>
            <a:r>
              <a:rPr lang="en-US" dirty="0" err="1" smtClean="0"/>
              <a:t>dotenv</a:t>
            </a:r>
            <a:endParaRPr lang="en-US" dirty="0" smtClean="0"/>
          </a:p>
          <a:p>
            <a:r>
              <a:rPr lang="en-US" dirty="0" smtClean="0"/>
              <a:t>#poetry add </a:t>
            </a:r>
            <a:r>
              <a:rPr lang="en-US" dirty="0" err="1" smtClean="0"/>
              <a:t>numpy</a:t>
            </a:r>
            <a:endParaRPr lang="en-US" dirty="0" smtClean="0"/>
          </a:p>
          <a:p>
            <a:r>
              <a:rPr lang="en-US" dirty="0" smtClean="0"/>
              <a:t>#poetry add requests</a:t>
            </a:r>
          </a:p>
          <a:p>
            <a:r>
              <a:rPr lang="en-US" dirty="0" smtClean="0"/>
              <a:t>#poetry add </a:t>
            </a:r>
            <a:r>
              <a:rPr lang="en-US" dirty="0" err="1" smtClean="0"/>
              <a:t>pyserial</a:t>
            </a:r>
            <a:endParaRPr lang="en-US" dirty="0" smtClean="0"/>
          </a:p>
          <a:p>
            <a:r>
              <a:rPr lang="en-US" dirty="0" smtClean="0"/>
              <a:t>#poetry add </a:t>
            </a:r>
            <a:r>
              <a:rPr lang="en-US" dirty="0" err="1" smtClean="0"/>
              <a:t>matplotlib</a:t>
            </a:r>
            <a:endParaRPr lang="en-US" dirty="0" smtClean="0"/>
          </a:p>
          <a:p>
            <a:r>
              <a:rPr lang="en-US" dirty="0" smtClean="0"/>
              <a:t>#poetry add </a:t>
            </a:r>
            <a:r>
              <a:rPr lang="en-US" dirty="0" err="1" smtClean="0"/>
              <a:t>scipy</a:t>
            </a:r>
            <a:endParaRPr lang="en-US" dirty="0" smtClean="0"/>
          </a:p>
          <a:p>
            <a:r>
              <a:rPr lang="en-US" dirty="0" smtClean="0"/>
              <a:t>#poetry add </a:t>
            </a:r>
            <a:r>
              <a:rPr lang="en-US" dirty="0" err="1" smtClean="0"/>
              <a:t>tzdata</a:t>
            </a:r>
            <a:endParaRPr lang="el-GR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 smtClean="0"/>
              <a:t>Παρατηρήσεις</a:t>
            </a:r>
            <a:endParaRPr lang="el-GR" dirty="0"/>
          </a:p>
        </p:txBody>
      </p:sp>
      <p:sp>
        <p:nvSpPr>
          <p:cNvPr id="3" name="2 - Θέση περιεχομένου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l-GR" dirty="0" smtClean="0"/>
              <a:t>Στο </a:t>
            </a:r>
            <a:r>
              <a:rPr lang="de-DE" dirty="0" smtClean="0"/>
              <a:t>ras</a:t>
            </a:r>
            <a:r>
              <a:rPr lang="en-US" dirty="0" err="1" smtClean="0"/>
              <a:t>pberry</a:t>
            </a:r>
            <a:r>
              <a:rPr lang="en-US" dirty="0" smtClean="0"/>
              <a:t> </a:t>
            </a:r>
            <a:r>
              <a:rPr lang="el-GR" dirty="0" smtClean="0"/>
              <a:t>χρειάστηκε να αλλάξω το </a:t>
            </a:r>
            <a:r>
              <a:rPr lang="en-US" dirty="0" smtClean="0"/>
              <a:t>reference path PYTHONPATH=/home/VASILIS/repos/Vibration-Analysis-Project/raspberry poetry run python3.12 tests/test_methods.py</a:t>
            </a:r>
            <a:endParaRPr lang="el-GR" dirty="0" smtClean="0"/>
          </a:p>
          <a:p>
            <a:r>
              <a:rPr lang="el-GR" dirty="0" smtClean="0"/>
              <a:t>Η εναλλακτικά τρέχουμε ακολουθία εντολών: </a:t>
            </a:r>
          </a:p>
          <a:p>
            <a:pPr lvl="1"/>
            <a:r>
              <a:rPr lang="en-US" dirty="0" smtClean="0"/>
              <a:t>export PATH="$HOME/.local/bin:$PATH"</a:t>
            </a:r>
          </a:p>
          <a:p>
            <a:pPr lvl="1"/>
            <a:r>
              <a:rPr lang="en-US" dirty="0" smtClean="0"/>
              <a:t>source $(poetry </a:t>
            </a:r>
            <a:r>
              <a:rPr lang="en-US" dirty="0" err="1" smtClean="0"/>
              <a:t>env</a:t>
            </a:r>
            <a:r>
              <a:rPr lang="en-US" dirty="0" smtClean="0"/>
              <a:t> info --path)/bin/activate</a:t>
            </a:r>
          </a:p>
          <a:p>
            <a:pPr lvl="1"/>
            <a:r>
              <a:rPr lang="en-US" dirty="0" smtClean="0"/>
              <a:t>poetry run python -m </a:t>
            </a:r>
            <a:r>
              <a:rPr lang="en-US" dirty="0" err="1" smtClean="0"/>
              <a:t>testing.test_methods</a:t>
            </a:r>
            <a:endParaRPr lang="en-US" dirty="0" smtClean="0"/>
          </a:p>
          <a:p>
            <a:r>
              <a:rPr lang="el-GR" dirty="0" smtClean="0"/>
              <a:t>Για </a:t>
            </a:r>
            <a:r>
              <a:rPr lang="de-DE" dirty="0" err="1" smtClean="0"/>
              <a:t>debugging</a:t>
            </a:r>
            <a:r>
              <a:rPr lang="de-DE" dirty="0" smtClean="0"/>
              <a:t> </a:t>
            </a:r>
            <a:r>
              <a:rPr lang="el-GR" dirty="0" smtClean="0"/>
              <a:t>μπορώ να τρέξω για παράδειγμα </a:t>
            </a:r>
            <a:r>
              <a:rPr lang="en-US" dirty="0" smtClean="0"/>
              <a:t>poetry run python -c "from </a:t>
            </a:r>
            <a:r>
              <a:rPr lang="en-US" dirty="0" err="1" smtClean="0"/>
              <a:t>sourceCode.utils</a:t>
            </a:r>
            <a:r>
              <a:rPr lang="en-US" dirty="0" smtClean="0"/>
              <a:t> import </a:t>
            </a:r>
            <a:r>
              <a:rPr lang="en-US" dirty="0" err="1" smtClean="0"/>
              <a:t>load_config</a:t>
            </a:r>
            <a:r>
              <a:rPr lang="en-US" dirty="0" smtClean="0"/>
              <a:t>; print(</a:t>
            </a:r>
            <a:r>
              <a:rPr lang="en-US" dirty="0" err="1" smtClean="0"/>
              <a:t>load_config</a:t>
            </a:r>
            <a:r>
              <a:rPr lang="en-US" dirty="0" smtClean="0"/>
              <a:t>())"</a:t>
            </a:r>
          </a:p>
          <a:p>
            <a:r>
              <a:rPr lang="el-GR" dirty="0" smtClean="0"/>
              <a:t>Για να τρέξω το </a:t>
            </a:r>
            <a:r>
              <a:rPr lang="de-DE" dirty="0" err="1" smtClean="0"/>
              <a:t>test</a:t>
            </a:r>
            <a:r>
              <a:rPr lang="de-DE" dirty="0" smtClean="0"/>
              <a:t> </a:t>
            </a:r>
            <a:r>
              <a:rPr lang="el-GR" dirty="0" smtClean="0"/>
              <a:t>αρχείο </a:t>
            </a:r>
            <a:r>
              <a:rPr lang="en-US" dirty="0" smtClean="0"/>
              <a:t>poetry run python -m </a:t>
            </a:r>
            <a:r>
              <a:rPr lang="en-US" dirty="0" err="1" smtClean="0"/>
              <a:t>testing.test_methods</a:t>
            </a:r>
            <a:r>
              <a:rPr lang="en-US" dirty="0" smtClean="0"/>
              <a:t> (treating the file as a part of module system)</a:t>
            </a:r>
          </a:p>
          <a:p>
            <a:r>
              <a:rPr lang="el-GR" dirty="0" smtClean="0"/>
              <a:t>Στο </a:t>
            </a:r>
            <a:r>
              <a:rPr lang="de-DE" dirty="0" smtClean="0"/>
              <a:t>.</a:t>
            </a:r>
            <a:r>
              <a:rPr lang="de-DE" dirty="0" err="1" smtClean="0"/>
              <a:t>env</a:t>
            </a:r>
            <a:r>
              <a:rPr lang="de-DE" dirty="0" smtClean="0"/>
              <a:t> </a:t>
            </a:r>
            <a:r>
              <a:rPr lang="el-GR" dirty="0" smtClean="0"/>
              <a:t>αρχείο </a:t>
            </a:r>
            <a:r>
              <a:rPr lang="el-GR" dirty="0" err="1" smtClean="0"/>
              <a:t>αποθηκέυουμε</a:t>
            </a:r>
            <a:r>
              <a:rPr lang="el-GR" dirty="0" smtClean="0"/>
              <a:t> τις σημαντικές μεταβλητές που αφορούν στο </a:t>
            </a:r>
            <a:r>
              <a:rPr lang="de-DE" dirty="0" err="1" smtClean="0"/>
              <a:t>api</a:t>
            </a:r>
            <a:r>
              <a:rPr lang="de-DE" dirty="0" smtClean="0"/>
              <a:t> </a:t>
            </a:r>
            <a:r>
              <a:rPr lang="el-GR" dirty="0" smtClean="0"/>
              <a:t>του πίνακα της βάσης δεδομένων στην </a:t>
            </a:r>
            <a:r>
              <a:rPr lang="de-DE" dirty="0" err="1" smtClean="0"/>
              <a:t>supabase</a:t>
            </a:r>
            <a:endParaRPr lang="en-US" dirty="0" smtClean="0"/>
          </a:p>
          <a:p>
            <a:pPr lvl="1"/>
            <a:r>
              <a:rPr lang="en-US" dirty="0" smtClean="0"/>
              <a:t>SUPABASE_URL="https://iftqwletgmtvtymsktar.supabase.co/rest/v1/measurements"</a:t>
            </a:r>
          </a:p>
          <a:p>
            <a:pPr lvl="1"/>
            <a:r>
              <a:rPr lang="en-US" dirty="0" smtClean="0"/>
              <a:t>API_KEY=“…..”</a:t>
            </a:r>
            <a:br>
              <a:rPr lang="en-US" dirty="0" smtClean="0"/>
            </a:br>
            <a:endParaRPr lang="en-US" dirty="0" smtClean="0"/>
          </a:p>
          <a:p>
            <a:endParaRPr lang="el-GR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l-GR" dirty="0" smtClean="0"/>
              <a:t>Περιγραφή αρχείων </a:t>
            </a:r>
            <a:r>
              <a:rPr lang="de-DE" dirty="0" err="1" smtClean="0"/>
              <a:t>source</a:t>
            </a:r>
            <a:r>
              <a:rPr lang="de-DE" dirty="0" smtClean="0"/>
              <a:t> </a:t>
            </a:r>
            <a:r>
              <a:rPr lang="de-DE" dirty="0" err="1" smtClean="0"/>
              <a:t>code</a:t>
            </a:r>
            <a:r>
              <a:rPr lang="el-GR" dirty="0" smtClean="0"/>
              <a:t> (1)</a:t>
            </a:r>
            <a:endParaRPr lang="el-GR" dirty="0"/>
          </a:p>
        </p:txBody>
      </p:sp>
      <p:sp>
        <p:nvSpPr>
          <p:cNvPr id="3" name="2 - Θέση περιεχομένου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dirty="0" smtClean="0"/>
              <a:t>API.py</a:t>
            </a:r>
            <a:r>
              <a:rPr lang="el-GR" dirty="0" smtClean="0"/>
              <a:t>:</a:t>
            </a:r>
          </a:p>
          <a:p>
            <a:r>
              <a:rPr lang="el-GR" b="1" dirty="0" smtClean="0"/>
              <a:t>Φορτώνει τη ρύθμιση της εφαρμογής</a:t>
            </a:r>
            <a:r>
              <a:rPr lang="el-GR" dirty="0" smtClean="0"/>
              <a:t>: Χρησιμοποιεί τη συνάρτηση </a:t>
            </a:r>
            <a:r>
              <a:rPr lang="el-GR" dirty="0" err="1" smtClean="0"/>
              <a:t>load_config</a:t>
            </a:r>
            <a:r>
              <a:rPr lang="el-GR" dirty="0" smtClean="0"/>
              <a:t> για να φορτώσει τη ρύθμιση της εφαρμογής (π.χ. API </a:t>
            </a:r>
            <a:r>
              <a:rPr lang="el-GR" dirty="0" err="1" smtClean="0"/>
              <a:t>key</a:t>
            </a:r>
            <a:r>
              <a:rPr lang="el-GR" dirty="0" smtClean="0"/>
              <a:t> και </a:t>
            </a:r>
            <a:r>
              <a:rPr lang="el-GR" dirty="0" err="1" smtClean="0"/>
              <a:t>Supabase</a:t>
            </a:r>
            <a:r>
              <a:rPr lang="el-GR" dirty="0" smtClean="0"/>
              <a:t> URL</a:t>
            </a:r>
            <a:r>
              <a:rPr lang="en-US" dirty="0" smtClean="0"/>
              <a:t>s –</a:t>
            </a:r>
            <a:r>
              <a:rPr lang="el-GR" dirty="0" smtClean="0"/>
              <a:t> ένα για </a:t>
            </a:r>
            <a:r>
              <a:rPr lang="en-US" dirty="0" smtClean="0"/>
              <a:t>selecting </a:t>
            </a:r>
            <a:r>
              <a:rPr lang="el-GR" dirty="0" smtClean="0"/>
              <a:t>και ένα για </a:t>
            </a:r>
            <a:r>
              <a:rPr lang="en-US" dirty="0" smtClean="0"/>
              <a:t>posting</a:t>
            </a:r>
            <a:r>
              <a:rPr lang="el-GR" dirty="0" smtClean="0"/>
              <a:t>).</a:t>
            </a:r>
          </a:p>
          <a:p>
            <a:r>
              <a:rPr lang="el-GR" b="1" dirty="0" smtClean="0"/>
              <a:t>Αρχικοποιεί την κλάση </a:t>
            </a:r>
            <a:r>
              <a:rPr lang="el-GR" b="1" dirty="0" err="1" smtClean="0"/>
              <a:t>VibrationMonitoringAPI</a:t>
            </a:r>
            <a:r>
              <a:rPr lang="el-GR" dirty="0" smtClean="0"/>
              <a:t>: Δημιουργεί ένα αντικείμενο για την επικοινωνία με το </a:t>
            </a:r>
            <a:r>
              <a:rPr lang="el-GR" dirty="0" err="1" smtClean="0"/>
              <a:t>Supabase</a:t>
            </a:r>
            <a:r>
              <a:rPr lang="el-GR" dirty="0" smtClean="0"/>
              <a:t> API.</a:t>
            </a:r>
          </a:p>
          <a:p>
            <a:r>
              <a:rPr lang="el-GR" b="1" dirty="0" smtClean="0"/>
              <a:t>Ελέγχει για την ύπαρξη του API </a:t>
            </a:r>
            <a:r>
              <a:rPr lang="el-GR" b="1" dirty="0" err="1" smtClean="0"/>
              <a:t>key</a:t>
            </a:r>
            <a:r>
              <a:rPr lang="el-GR" b="1" dirty="0" smtClean="0"/>
              <a:t> και του </a:t>
            </a:r>
            <a:r>
              <a:rPr lang="el-GR" b="1" dirty="0" err="1" smtClean="0"/>
              <a:t>Supabase</a:t>
            </a:r>
            <a:r>
              <a:rPr lang="el-GR" b="1" dirty="0" smtClean="0"/>
              <a:t> URL</a:t>
            </a:r>
            <a:r>
              <a:rPr lang="el-GR" dirty="0" smtClean="0"/>
              <a:t>: Αν λείπει κάποιο από αυτά, εμφανίζεται σφάλμα και διακόπτεται η εκτέλεση.</a:t>
            </a:r>
          </a:p>
          <a:p>
            <a:r>
              <a:rPr lang="el-GR" b="1" dirty="0" smtClean="0"/>
              <a:t>Φορτώνει επικεφαλίδες αιτήματος (</a:t>
            </a:r>
            <a:r>
              <a:rPr lang="el-GR" b="1" dirty="0" err="1" smtClean="0"/>
              <a:t>headers</a:t>
            </a:r>
            <a:r>
              <a:rPr lang="el-GR" b="1" dirty="0" smtClean="0"/>
              <a:t>)</a:t>
            </a:r>
            <a:r>
              <a:rPr lang="el-GR" dirty="0" smtClean="0"/>
              <a:t>: Χρησιμοποιεί το API </a:t>
            </a:r>
            <a:r>
              <a:rPr lang="el-GR" dirty="0" err="1" smtClean="0"/>
              <a:t>key</a:t>
            </a:r>
            <a:r>
              <a:rPr lang="el-GR" dirty="0" smtClean="0"/>
              <a:t> για να ρυθμίσει τις επικεφαλίδες του αιτήματος προς το </a:t>
            </a:r>
            <a:r>
              <a:rPr lang="el-GR" dirty="0" err="1" smtClean="0"/>
              <a:t>Supabase</a:t>
            </a:r>
            <a:r>
              <a:rPr lang="el-GR" dirty="0" smtClean="0"/>
              <a:t>.</a:t>
            </a:r>
          </a:p>
          <a:p>
            <a:r>
              <a:rPr lang="el-GR" b="1" dirty="0" smtClean="0"/>
              <a:t>Μορφοποιεί ημερομηνίες</a:t>
            </a:r>
            <a:r>
              <a:rPr lang="el-GR" dirty="0" smtClean="0"/>
              <a:t>: Η μέθοδος </a:t>
            </a:r>
            <a:r>
              <a:rPr lang="el-GR" dirty="0" err="1" smtClean="0"/>
              <a:t>get_time</a:t>
            </a:r>
            <a:r>
              <a:rPr lang="el-GR" dirty="0" smtClean="0"/>
              <a:t> μορφοποιεί τις ημερομηνίες </a:t>
            </a:r>
            <a:r>
              <a:rPr lang="el-GR" dirty="0" err="1" smtClean="0"/>
              <a:t>start_measurement</a:t>
            </a:r>
            <a:r>
              <a:rPr lang="el-GR" dirty="0" smtClean="0"/>
              <a:t> και </a:t>
            </a:r>
            <a:r>
              <a:rPr lang="el-GR" dirty="0" err="1" smtClean="0"/>
              <a:t>end_measurement</a:t>
            </a:r>
            <a:r>
              <a:rPr lang="el-GR" dirty="0" smtClean="0"/>
              <a:t> σε ISO 8601 μορφή.</a:t>
            </a:r>
          </a:p>
          <a:p>
            <a:r>
              <a:rPr lang="el-GR" b="1" dirty="0" smtClean="0"/>
              <a:t>Αποστολή δεδομένων μέτρησης</a:t>
            </a:r>
            <a:r>
              <a:rPr lang="el-GR" dirty="0" smtClean="0"/>
              <a:t>: Η μέθοδος </a:t>
            </a:r>
            <a:r>
              <a:rPr lang="el-GR" dirty="0" err="1" smtClean="0"/>
              <a:t>send_measurement</a:t>
            </a:r>
            <a:r>
              <a:rPr lang="el-GR" dirty="0" smtClean="0"/>
              <a:t> στέλνει τα δεδομένα μέτρησης στο </a:t>
            </a:r>
            <a:r>
              <a:rPr lang="el-GR" dirty="0" err="1" smtClean="0"/>
              <a:t>Supabase</a:t>
            </a:r>
            <a:r>
              <a:rPr lang="el-GR" dirty="0" smtClean="0"/>
              <a:t>, μέσω ενός HTTP POST αιτήματος</a:t>
            </a:r>
            <a:r>
              <a:rPr lang="de-DE" dirty="0" smtClean="0"/>
              <a:t>, </a:t>
            </a:r>
            <a:r>
              <a:rPr lang="el-GR" dirty="0" smtClean="0"/>
              <a:t>δίχως να λαμβάνει </a:t>
            </a:r>
            <a:r>
              <a:rPr lang="de-DE" dirty="0" err="1" smtClean="0"/>
              <a:t>feedback</a:t>
            </a:r>
            <a:r>
              <a:rPr lang="de-DE" dirty="0" smtClean="0"/>
              <a:t>.</a:t>
            </a:r>
            <a:endParaRPr lang="el-GR" dirty="0" smtClean="0"/>
          </a:p>
          <a:p>
            <a:endParaRPr lang="el-GR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l-GR" dirty="0" smtClean="0"/>
              <a:t>Περιγραφή αρχείων </a:t>
            </a:r>
            <a:r>
              <a:rPr lang="de-DE" dirty="0" err="1" smtClean="0"/>
              <a:t>source</a:t>
            </a:r>
            <a:r>
              <a:rPr lang="de-DE" dirty="0" smtClean="0"/>
              <a:t> </a:t>
            </a:r>
            <a:r>
              <a:rPr lang="de-DE" dirty="0" err="1" smtClean="0"/>
              <a:t>code</a:t>
            </a:r>
            <a:r>
              <a:rPr lang="el-GR" dirty="0" smtClean="0"/>
              <a:t> (</a:t>
            </a:r>
            <a:r>
              <a:rPr lang="en-US" dirty="0" smtClean="0"/>
              <a:t>2</a:t>
            </a:r>
            <a:r>
              <a:rPr lang="el-GR" dirty="0" smtClean="0"/>
              <a:t>)</a:t>
            </a:r>
            <a:endParaRPr lang="el-GR" dirty="0"/>
          </a:p>
        </p:txBody>
      </p:sp>
      <p:sp>
        <p:nvSpPr>
          <p:cNvPr id="3" name="2 - Θέση περιεχομένου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dirty="0" smtClean="0"/>
              <a:t>Utils.py</a:t>
            </a:r>
            <a:r>
              <a:rPr lang="el-GR" dirty="0" smtClean="0"/>
              <a:t>:</a:t>
            </a:r>
          </a:p>
          <a:p>
            <a:r>
              <a:rPr lang="el-GR" b="1" dirty="0" smtClean="0"/>
              <a:t>Ρύθμιση καταγραφής (</a:t>
            </a:r>
            <a:r>
              <a:rPr lang="el-GR" b="1" dirty="0" err="1" smtClean="0"/>
              <a:t>Logging</a:t>
            </a:r>
            <a:r>
              <a:rPr lang="el-GR" b="1" dirty="0" smtClean="0"/>
              <a:t>)</a:t>
            </a:r>
            <a:r>
              <a:rPr lang="el-GR" dirty="0" smtClean="0"/>
              <a:t>: Ρυθμίζει την καταγραφή (</a:t>
            </a:r>
            <a:r>
              <a:rPr lang="el-GR" dirty="0" err="1" smtClean="0"/>
              <a:t>logging</a:t>
            </a:r>
            <a:r>
              <a:rPr lang="el-GR" dirty="0" smtClean="0"/>
              <a:t>) με χρονική σήμανση για τις εγγραφές των συμβάντων (INFO, ERROR, κλπ.).</a:t>
            </a:r>
          </a:p>
          <a:p>
            <a:r>
              <a:rPr lang="el-GR" b="1" dirty="0" smtClean="0"/>
              <a:t>Φόρτωση μεταβλητών περιβάλλοντος</a:t>
            </a:r>
            <a:r>
              <a:rPr lang="el-GR" dirty="0" smtClean="0"/>
              <a:t>: Η συνάρτηση </a:t>
            </a:r>
            <a:r>
              <a:rPr lang="el-GR" dirty="0" err="1" smtClean="0"/>
              <a:t>load_env_variables</a:t>
            </a:r>
            <a:r>
              <a:rPr lang="el-GR" dirty="0" smtClean="0"/>
              <a:t> φορτώνει τις μεταβλητές περιβάλλοντος από το αρχείο .</a:t>
            </a:r>
            <a:r>
              <a:rPr lang="el-GR" dirty="0" err="1" smtClean="0"/>
              <a:t>env</a:t>
            </a:r>
            <a:r>
              <a:rPr lang="el-GR" dirty="0" smtClean="0"/>
              <a:t> μέσω της βιβλιοθήκης </a:t>
            </a:r>
            <a:r>
              <a:rPr lang="el-GR" dirty="0" err="1" smtClean="0"/>
              <a:t>dotenv</a:t>
            </a:r>
            <a:r>
              <a:rPr lang="el-GR" dirty="0" smtClean="0"/>
              <a:t>.</a:t>
            </a:r>
          </a:p>
          <a:p>
            <a:r>
              <a:rPr lang="el-GR" b="1" dirty="0" smtClean="0"/>
              <a:t>Φόρτωση αρχείου ρύθμισης (</a:t>
            </a:r>
            <a:r>
              <a:rPr lang="el-GR" b="1" dirty="0" err="1" smtClean="0"/>
              <a:t>config</a:t>
            </a:r>
            <a:r>
              <a:rPr lang="el-GR" b="1" dirty="0" smtClean="0"/>
              <a:t>)</a:t>
            </a:r>
            <a:r>
              <a:rPr lang="el-GR" dirty="0" smtClean="0"/>
              <a:t>: Η συνάρτηση </a:t>
            </a:r>
            <a:r>
              <a:rPr lang="el-GR" dirty="0" err="1" smtClean="0"/>
              <a:t>load_config</a:t>
            </a:r>
            <a:r>
              <a:rPr lang="el-GR" dirty="0" smtClean="0"/>
              <a:t> φορτώνει τις ρυθμίσεις από ένα αρχείο YAML (προεπιλεγμένα από το αρχείο </a:t>
            </a:r>
            <a:r>
              <a:rPr lang="el-GR" dirty="0" err="1" smtClean="0"/>
              <a:t>config.yaml</a:t>
            </a:r>
            <a:r>
              <a:rPr lang="el-GR" dirty="0" smtClean="0"/>
              <a:t> στον φάκελο </a:t>
            </a:r>
            <a:r>
              <a:rPr lang="el-GR" dirty="0" err="1" smtClean="0"/>
              <a:t>config</a:t>
            </a:r>
            <a:r>
              <a:rPr lang="el-GR" dirty="0" smtClean="0"/>
              <a:t>). Αν το αρχείο δεν βρεθεί ή υπάρχει σφάλμα στην ανάλυση του YAML, εμφανίζεται το αντίστοιχο σφάλμα.</a:t>
            </a:r>
          </a:p>
          <a:p>
            <a:r>
              <a:rPr lang="el-GR" b="1" dirty="0" smtClean="0"/>
              <a:t>Ανάκτηση του API </a:t>
            </a:r>
            <a:r>
              <a:rPr lang="el-GR" b="1" dirty="0" err="1" smtClean="0"/>
              <a:t>Key</a:t>
            </a:r>
            <a:r>
              <a:rPr lang="el-GR" dirty="0" smtClean="0"/>
              <a:t>: Η συνάρτηση </a:t>
            </a:r>
            <a:r>
              <a:rPr lang="el-GR" dirty="0" err="1" smtClean="0"/>
              <a:t>get_api_key</a:t>
            </a:r>
            <a:r>
              <a:rPr lang="el-GR" dirty="0" smtClean="0"/>
              <a:t> ανακτά το API </a:t>
            </a:r>
            <a:r>
              <a:rPr lang="el-GR" dirty="0" err="1" smtClean="0"/>
              <a:t>Key</a:t>
            </a:r>
            <a:r>
              <a:rPr lang="el-GR" dirty="0" smtClean="0"/>
              <a:t> από τις μεταβλητές περιβάλλοντος.</a:t>
            </a:r>
          </a:p>
          <a:p>
            <a:r>
              <a:rPr lang="el-GR" b="1" dirty="0" smtClean="0"/>
              <a:t>Ανάκτηση του </a:t>
            </a:r>
            <a:r>
              <a:rPr lang="el-GR" b="1" dirty="0" err="1" smtClean="0"/>
              <a:t>Supabase</a:t>
            </a:r>
            <a:r>
              <a:rPr lang="el-GR" b="1" dirty="0" smtClean="0"/>
              <a:t> URL</a:t>
            </a:r>
            <a:r>
              <a:rPr lang="el-GR" dirty="0" smtClean="0"/>
              <a:t>: Η συνάρτηση </a:t>
            </a:r>
            <a:r>
              <a:rPr lang="el-GR" dirty="0" err="1" smtClean="0"/>
              <a:t>get_supabase_url</a:t>
            </a:r>
            <a:r>
              <a:rPr lang="el-GR" dirty="0" smtClean="0"/>
              <a:t> ανακτά το URL του </a:t>
            </a:r>
            <a:r>
              <a:rPr lang="el-GR" dirty="0" err="1" smtClean="0"/>
              <a:t>Supabase</a:t>
            </a:r>
            <a:r>
              <a:rPr lang="en-US" dirty="0" smtClean="0"/>
              <a:t> </a:t>
            </a:r>
            <a:r>
              <a:rPr lang="el-GR" dirty="0" smtClean="0"/>
              <a:t>από τις μεταβλητές περιβάλλοντος</a:t>
            </a:r>
            <a:r>
              <a:rPr lang="en-US" dirty="0" smtClean="0"/>
              <a:t>.</a:t>
            </a:r>
            <a:endParaRPr lang="el-GR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l-GR" dirty="0" smtClean="0"/>
              <a:t>Περιγραφή αρχείων </a:t>
            </a:r>
            <a:r>
              <a:rPr lang="de-DE" dirty="0" err="1" smtClean="0"/>
              <a:t>source</a:t>
            </a:r>
            <a:r>
              <a:rPr lang="de-DE" dirty="0" smtClean="0"/>
              <a:t> </a:t>
            </a:r>
            <a:r>
              <a:rPr lang="de-DE" dirty="0" err="1" smtClean="0"/>
              <a:t>code</a:t>
            </a:r>
            <a:r>
              <a:rPr lang="el-GR" dirty="0" smtClean="0"/>
              <a:t> (</a:t>
            </a:r>
            <a:r>
              <a:rPr lang="en-US" dirty="0" smtClean="0"/>
              <a:t>3</a:t>
            </a:r>
            <a:r>
              <a:rPr lang="el-GR" dirty="0" smtClean="0"/>
              <a:t>)</a:t>
            </a:r>
            <a:endParaRPr lang="el-GR" dirty="0"/>
          </a:p>
        </p:txBody>
      </p:sp>
      <p:sp>
        <p:nvSpPr>
          <p:cNvPr id="3" name="2 - Θέση περιεχομένου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 smtClean="0"/>
              <a:t>Serial_communication.py</a:t>
            </a:r>
            <a:r>
              <a:rPr lang="el-GR" dirty="0" smtClean="0"/>
              <a:t>:</a:t>
            </a:r>
          </a:p>
          <a:p>
            <a:r>
              <a:rPr lang="el-GR" b="1" dirty="0" smtClean="0"/>
              <a:t>Δημιουργεί την σειριακή επικοινωνία: </a:t>
            </a:r>
            <a:r>
              <a:rPr lang="el-GR" dirty="0" smtClean="0"/>
              <a:t>μεταξύ του υπολογιστή</a:t>
            </a:r>
            <a:r>
              <a:rPr lang="en-US" dirty="0" smtClean="0"/>
              <a:t> (</a:t>
            </a:r>
            <a:r>
              <a:rPr lang="el-GR" dirty="0" smtClean="0"/>
              <a:t>στην </a:t>
            </a:r>
            <a:r>
              <a:rPr lang="de-DE" dirty="0" err="1" smtClean="0"/>
              <a:t>production</a:t>
            </a:r>
            <a:r>
              <a:rPr lang="de-DE" dirty="0" smtClean="0"/>
              <a:t> </a:t>
            </a:r>
            <a:r>
              <a:rPr lang="el-GR" dirty="0" smtClean="0"/>
              <a:t>φάση </a:t>
            </a:r>
            <a:r>
              <a:rPr lang="en-US" dirty="0" smtClean="0"/>
              <a:t>raspberry)</a:t>
            </a:r>
            <a:r>
              <a:rPr lang="el-GR" dirty="0" smtClean="0"/>
              <a:t> και του </a:t>
            </a:r>
            <a:r>
              <a:rPr lang="en-US" dirty="0" err="1" smtClean="0"/>
              <a:t>Arduino</a:t>
            </a:r>
            <a:r>
              <a:rPr lang="el-GR" dirty="0" smtClean="0"/>
              <a:t>  &lt;</a:t>
            </a:r>
            <a:r>
              <a:rPr lang="en-US" dirty="0" err="1" smtClean="0"/>
              <a:t>setup_serial_connection</a:t>
            </a:r>
            <a:r>
              <a:rPr lang="el-GR" dirty="0" smtClean="0"/>
              <a:t>&gt; καθορίζεται η επικοινωνία.</a:t>
            </a:r>
          </a:p>
          <a:p>
            <a:r>
              <a:rPr lang="el-GR" b="1" dirty="0" smtClean="0"/>
              <a:t>Διαβάζει μια σειρά από δεδομένα: </a:t>
            </a:r>
            <a:r>
              <a:rPr lang="el-GR" dirty="0" smtClean="0"/>
              <a:t>τα δεδομένα που έρχονται από το </a:t>
            </a:r>
            <a:r>
              <a:rPr lang="en-US" dirty="0" err="1" smtClean="0"/>
              <a:t>Arduino</a:t>
            </a:r>
            <a:r>
              <a:rPr lang="el-GR" dirty="0" smtClean="0"/>
              <a:t> και τα αποθηκεύει σε 3 μεταβλητές.</a:t>
            </a:r>
          </a:p>
          <a:p>
            <a:endParaRPr lang="el-GR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Supabase</a:t>
            </a:r>
            <a:r>
              <a:rPr lang="el-GR" dirty="0" smtClean="0"/>
              <a:t> (1)</a:t>
            </a:r>
            <a:endParaRPr lang="el-G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412775"/>
            <a:ext cx="8398074" cy="24390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5576" y="4221088"/>
            <a:ext cx="2210109" cy="1362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76056" y="4221088"/>
            <a:ext cx="2228850" cy="141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Supabase</a:t>
            </a:r>
            <a:r>
              <a:rPr lang="el-GR" dirty="0" smtClean="0"/>
              <a:t> (2)</a:t>
            </a:r>
            <a:endParaRPr lang="el-GR" dirty="0"/>
          </a:p>
        </p:txBody>
      </p:sp>
      <p:sp>
        <p:nvSpPr>
          <p:cNvPr id="3" name="2 - Θέση περιεχομένου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l-GR" dirty="0" smtClean="0"/>
              <a:t>Κάθε πελάτης μπορεί να κατέχει διάφορα αισθητήρια όπου θα μετράν διαφορετικά σημεία – δηλαδή διαφορετικό εξοπλισμό του</a:t>
            </a:r>
          </a:p>
          <a:p>
            <a:r>
              <a:rPr lang="el-GR" dirty="0" smtClean="0"/>
              <a:t>Κάθε αισθητήριο θα έχει μια ονομασία βασισμένη στο μηχάνημα και την λειτουργία του μηχανήματος</a:t>
            </a:r>
          </a:p>
          <a:p>
            <a:r>
              <a:rPr lang="el-GR" dirty="0" smtClean="0"/>
              <a:t>Στον βασικό πίνακα </a:t>
            </a:r>
            <a:r>
              <a:rPr lang="en-US" dirty="0" smtClean="0"/>
              <a:t>measurements </a:t>
            </a:r>
            <a:r>
              <a:rPr lang="el-GR" dirty="0" smtClean="0"/>
              <a:t>θα αποθηκεύονται όλα αυτά τα δεδομένα.</a:t>
            </a:r>
            <a:endParaRPr lang="el-GR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Supabase</a:t>
            </a:r>
            <a:r>
              <a:rPr lang="el-GR" dirty="0" smtClean="0"/>
              <a:t> (</a:t>
            </a:r>
            <a:r>
              <a:rPr lang="de-DE" dirty="0" smtClean="0"/>
              <a:t>3</a:t>
            </a:r>
            <a:r>
              <a:rPr lang="el-GR" dirty="0" smtClean="0"/>
              <a:t>)</a:t>
            </a:r>
            <a:endParaRPr lang="el-GR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931745"/>
            <a:ext cx="8229600" cy="3862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Raspbian</a:t>
            </a:r>
            <a:r>
              <a:rPr lang="en-US" dirty="0" smtClean="0"/>
              <a:t> </a:t>
            </a:r>
            <a:r>
              <a:rPr lang="en-US" dirty="0" err="1" smtClean="0"/>
              <a:t>Lite</a:t>
            </a:r>
            <a:r>
              <a:rPr lang="en-US" dirty="0" smtClean="0"/>
              <a:t> (1)</a:t>
            </a:r>
            <a:endParaRPr lang="el-GR" dirty="0"/>
          </a:p>
        </p:txBody>
      </p:sp>
      <p:sp>
        <p:nvSpPr>
          <p:cNvPr id="3" name="2 - Θέση περιεχομένου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l-GR" dirty="0" smtClean="0"/>
              <a:t>Απλά πρέπει να τρέξουμε την εντολή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poetry run python </a:t>
            </a:r>
            <a:r>
              <a:rPr lang="en-US" dirty="0" err="1" smtClean="0"/>
              <a:t>sourceCode</a:t>
            </a:r>
            <a:r>
              <a:rPr lang="en-US" dirty="0" smtClean="0"/>
              <a:t>/main.py</a:t>
            </a:r>
            <a:r>
              <a:rPr lang="el-GR" dirty="0" smtClean="0"/>
              <a:t> </a:t>
            </a:r>
            <a:endParaRPr lang="en-US" dirty="0" smtClean="0"/>
          </a:p>
          <a:p>
            <a:pPr>
              <a:buNone/>
            </a:pPr>
            <a:r>
              <a:rPr lang="el-GR" dirty="0" smtClean="0"/>
              <a:t>στο </a:t>
            </a:r>
            <a:r>
              <a:rPr lang="en-US" dirty="0" smtClean="0"/>
              <a:t>Raspberry Pi </a:t>
            </a:r>
            <a:r>
              <a:rPr lang="el-GR" dirty="0" smtClean="0"/>
              <a:t>όταν αυτό είναι συνδεδεμένο με το </a:t>
            </a:r>
            <a:r>
              <a:rPr lang="en-US" dirty="0" err="1" smtClean="0"/>
              <a:t>Arduino</a:t>
            </a:r>
            <a:r>
              <a:rPr lang="en-US" dirty="0" smtClean="0"/>
              <a:t>.</a:t>
            </a:r>
          </a:p>
          <a:p>
            <a:r>
              <a:rPr lang="el-GR" dirty="0" smtClean="0"/>
              <a:t>Μετά παρατηρούμε την αποστολή δεδομένων στην </a:t>
            </a:r>
            <a:r>
              <a:rPr lang="en-US" dirty="0" err="1" smtClean="0"/>
              <a:t>supabase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l-GR" dirty="0" smtClean="0"/>
              <a:t>Το αρχείο </a:t>
            </a:r>
            <a:r>
              <a:rPr lang="en-US" dirty="0" err="1" smtClean="0"/>
              <a:t>wpa_supplicant.conf.txt</a:t>
            </a:r>
            <a:r>
              <a:rPr lang="en-US" dirty="0" smtClean="0"/>
              <a:t> </a:t>
            </a:r>
            <a:r>
              <a:rPr lang="el-GR" dirty="0" smtClean="0"/>
              <a:t>το βάζω χειροκίνητα μέσα στο </a:t>
            </a:r>
            <a:r>
              <a:rPr lang="en-US" dirty="0" err="1" smtClean="0"/>
              <a:t>raspbian</a:t>
            </a:r>
            <a:r>
              <a:rPr lang="en-US" dirty="0" smtClean="0"/>
              <a:t> </a:t>
            </a:r>
            <a:r>
              <a:rPr lang="en-US" dirty="0" err="1" smtClean="0"/>
              <a:t>lite</a:t>
            </a:r>
            <a:endParaRPr lang="en-US" dirty="0" smtClean="0"/>
          </a:p>
          <a:p>
            <a:r>
              <a:rPr lang="el-GR" dirty="0" smtClean="0"/>
              <a:t>Όταν δίνει κωδικό 201 σημαίνει ότι στέλνει δεδομένα</a:t>
            </a:r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l-GR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Raspbian</a:t>
            </a:r>
            <a:r>
              <a:rPr lang="en-US" dirty="0" smtClean="0"/>
              <a:t> </a:t>
            </a:r>
            <a:r>
              <a:rPr lang="en-US" dirty="0" err="1" smtClean="0"/>
              <a:t>Lite</a:t>
            </a:r>
            <a:r>
              <a:rPr lang="en-US" dirty="0" smtClean="0"/>
              <a:t> (</a:t>
            </a:r>
            <a:r>
              <a:rPr lang="el-GR" dirty="0" smtClean="0"/>
              <a:t>2</a:t>
            </a:r>
            <a:r>
              <a:rPr lang="en-US" dirty="0" smtClean="0"/>
              <a:t>)</a:t>
            </a:r>
            <a:endParaRPr lang="el-GR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4149080"/>
            <a:ext cx="8712968" cy="24505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4 - TextBox"/>
          <p:cNvSpPr txBox="1"/>
          <p:nvPr/>
        </p:nvSpPr>
        <p:spPr>
          <a:xfrm>
            <a:off x="827584" y="1916832"/>
            <a:ext cx="74168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2400" dirty="0" smtClean="0"/>
              <a:t>Παρατηρούμε παρακάτω ότι τα δεδομένα έχουν σταλεί στην </a:t>
            </a:r>
            <a:r>
              <a:rPr lang="en-US" sz="2400" dirty="0" err="1" smtClean="0"/>
              <a:t>supabase</a:t>
            </a:r>
            <a:r>
              <a:rPr lang="el-GR" sz="2400" dirty="0" smtClean="0"/>
              <a:t> και ότι η εντολή εκτελείται </a:t>
            </a:r>
            <a:r>
              <a:rPr lang="el-GR" sz="2400" dirty="0" err="1" smtClean="0"/>
              <a:t>επιτυχως</a:t>
            </a:r>
            <a:endParaRPr lang="el-GR" sz="2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Vercel</a:t>
            </a:r>
            <a:r>
              <a:rPr lang="en-US" dirty="0" smtClean="0"/>
              <a:t> Setting-Up</a:t>
            </a:r>
            <a:endParaRPr lang="el-GR" dirty="0"/>
          </a:p>
        </p:txBody>
      </p:sp>
      <p:sp>
        <p:nvSpPr>
          <p:cNvPr id="3" name="2 - Θέση περιεχομένου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l-GR" dirty="0" smtClean="0"/>
              <a:t>Έχει δημιουργηθεί </a:t>
            </a:r>
            <a:r>
              <a:rPr lang="en-US" dirty="0" err="1" smtClean="0"/>
              <a:t>git</a:t>
            </a:r>
            <a:r>
              <a:rPr lang="en-US" dirty="0" smtClean="0"/>
              <a:t> </a:t>
            </a:r>
            <a:r>
              <a:rPr lang="el-GR" dirty="0" smtClean="0"/>
              <a:t>μέσα σε έναν Η/Υ </a:t>
            </a:r>
            <a:endParaRPr lang="en-US" dirty="0" smtClean="0"/>
          </a:p>
          <a:p>
            <a:r>
              <a:rPr lang="el-GR" dirty="0" smtClean="0"/>
              <a:t>Για να </a:t>
            </a:r>
            <a:r>
              <a:rPr lang="el-GR" dirty="0" err="1" smtClean="0"/>
              <a:t>σεταρουμε</a:t>
            </a:r>
            <a:r>
              <a:rPr lang="el-GR" dirty="0" smtClean="0"/>
              <a:t> το περιβάλλον πρέπει δημιουργηθεί το αρχείο .</a:t>
            </a:r>
            <a:r>
              <a:rPr lang="en-US" dirty="0" err="1" smtClean="0"/>
              <a:t>env</a:t>
            </a:r>
            <a:r>
              <a:rPr lang="el-GR" dirty="0" smtClean="0"/>
              <a:t>.</a:t>
            </a:r>
            <a:r>
              <a:rPr lang="en-US" dirty="0" smtClean="0"/>
              <a:t>local</a:t>
            </a:r>
            <a:r>
              <a:rPr lang="el-GR" dirty="0" smtClean="0"/>
              <a:t> στο ίδιο επίπεδο με το </a:t>
            </a:r>
            <a:r>
              <a:rPr lang="de-DE" dirty="0" err="1" smtClean="0"/>
              <a:t>package</a:t>
            </a:r>
            <a:r>
              <a:rPr lang="en-US" dirty="0" smtClean="0"/>
              <a:t>-lock </a:t>
            </a:r>
            <a:r>
              <a:rPr lang="el-GR" dirty="0" smtClean="0"/>
              <a:t>και </a:t>
            </a:r>
            <a:r>
              <a:rPr lang="en-US" dirty="0" smtClean="0"/>
              <a:t>next-</a:t>
            </a:r>
            <a:r>
              <a:rPr lang="en-US" dirty="0" err="1" smtClean="0"/>
              <a:t>env.d</a:t>
            </a:r>
            <a:endParaRPr lang="el-GR" dirty="0" smtClean="0"/>
          </a:p>
          <a:p>
            <a:r>
              <a:rPr lang="el-GR" dirty="0" smtClean="0"/>
              <a:t>Κάνεις πρώτα εγκατάσταση την </a:t>
            </a:r>
            <a:r>
              <a:rPr lang="en-US" dirty="0" err="1" smtClean="0"/>
              <a:t>nodejs</a:t>
            </a:r>
            <a:endParaRPr lang="el-GR" dirty="0" smtClean="0"/>
          </a:p>
          <a:p>
            <a:r>
              <a:rPr lang="el-GR" dirty="0" smtClean="0"/>
              <a:t>Πρέπει να γίνει</a:t>
            </a:r>
            <a:r>
              <a:rPr lang="en-US" dirty="0" smtClean="0"/>
              <a:t>:</a:t>
            </a:r>
          </a:p>
          <a:p>
            <a:pPr lvl="1"/>
            <a:r>
              <a:rPr lang="el-GR" dirty="0" smtClean="0"/>
              <a:t> </a:t>
            </a:r>
            <a:r>
              <a:rPr lang="en-US" dirty="0" err="1" smtClean="0"/>
              <a:t>npm</a:t>
            </a:r>
            <a:r>
              <a:rPr lang="en-US" dirty="0" smtClean="0"/>
              <a:t> install @</a:t>
            </a:r>
            <a:r>
              <a:rPr lang="en-US" dirty="0" err="1" smtClean="0"/>
              <a:t>supabase</a:t>
            </a:r>
            <a:r>
              <a:rPr lang="en-US" dirty="0" smtClean="0"/>
              <a:t>/</a:t>
            </a:r>
            <a:r>
              <a:rPr lang="en-US" dirty="0" err="1" smtClean="0"/>
              <a:t>supabase-js</a:t>
            </a:r>
            <a:r>
              <a:rPr lang="en-US" dirty="0" smtClean="0"/>
              <a:t> @</a:t>
            </a:r>
            <a:r>
              <a:rPr lang="en-US" dirty="0" err="1" smtClean="0"/>
              <a:t>supabase</a:t>
            </a:r>
            <a:r>
              <a:rPr lang="en-US" dirty="0" smtClean="0"/>
              <a:t>/auth-helpers-</a:t>
            </a:r>
            <a:r>
              <a:rPr lang="en-US" dirty="0" err="1" smtClean="0"/>
              <a:t>nextjs</a:t>
            </a:r>
            <a:r>
              <a:rPr lang="en-US" dirty="0" smtClean="0"/>
              <a:t> @</a:t>
            </a:r>
            <a:r>
              <a:rPr lang="en-US" dirty="0" err="1" smtClean="0"/>
              <a:t>supabase</a:t>
            </a:r>
            <a:r>
              <a:rPr lang="en-US" dirty="0" smtClean="0"/>
              <a:t>/</a:t>
            </a:r>
            <a:r>
              <a:rPr lang="en-US" dirty="0" err="1" smtClean="0"/>
              <a:t>ssr</a:t>
            </a:r>
            <a:r>
              <a:rPr lang="en-US" dirty="0" smtClean="0"/>
              <a:t> , </a:t>
            </a:r>
            <a:r>
              <a:rPr lang="el-GR" dirty="0" err="1" smtClean="0"/>
              <a:t>μεσα</a:t>
            </a:r>
            <a:r>
              <a:rPr lang="el-GR" dirty="0" smtClean="0"/>
              <a:t> στον φάκελο, καθώς επίσης και</a:t>
            </a:r>
            <a:endParaRPr lang="en-US" dirty="0" smtClean="0"/>
          </a:p>
          <a:p>
            <a:pPr lvl="1"/>
            <a:r>
              <a:rPr lang="en-US" dirty="0" err="1" smtClean="0"/>
              <a:t>npm</a:t>
            </a:r>
            <a:r>
              <a:rPr lang="en-US" dirty="0" smtClean="0"/>
              <a:t> run dev </a:t>
            </a:r>
            <a:r>
              <a:rPr lang="el-GR" dirty="0" smtClean="0"/>
              <a:t>, για να τρέξει τοπικά η εφαρμογή</a:t>
            </a:r>
          </a:p>
          <a:p>
            <a:r>
              <a:rPr lang="el-GR" dirty="0" smtClean="0"/>
              <a:t>Συγκεκριμένα εδώ </a:t>
            </a:r>
            <a:r>
              <a:rPr lang="en-US" dirty="0" err="1" smtClean="0"/>
              <a:t>cd</a:t>
            </a:r>
            <a:r>
              <a:rPr lang="en-US" dirty="0" smtClean="0"/>
              <a:t> Desktop/ Diploma\ Thesis/ 2. </a:t>
            </a:r>
            <a:r>
              <a:rPr lang="en-US" dirty="0" err="1" smtClean="0"/>
              <a:t>nextjs</a:t>
            </a:r>
            <a:endParaRPr lang="en-US" dirty="0" smtClean="0"/>
          </a:p>
          <a:p>
            <a:r>
              <a:rPr lang="el-GR" dirty="0" smtClean="0"/>
              <a:t>Και πολύ σημαντικό είναι ότι υπάρχουν παράλληλα εδώ τα 0.</a:t>
            </a:r>
            <a:r>
              <a:rPr lang="en-US" dirty="0" smtClean="0"/>
              <a:t> </a:t>
            </a:r>
            <a:r>
              <a:rPr lang="en-US" dirty="0" err="1" smtClean="0"/>
              <a:t>arduino</a:t>
            </a:r>
            <a:r>
              <a:rPr lang="en-US" dirty="0" smtClean="0"/>
              <a:t> &amp; 1. raspberry</a:t>
            </a:r>
          </a:p>
          <a:p>
            <a:endParaRPr lang="el-GR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Vercel</a:t>
            </a:r>
            <a:r>
              <a:rPr lang="de-DE" dirty="0" smtClean="0"/>
              <a:t> </a:t>
            </a:r>
            <a:r>
              <a:rPr lang="de-DE" dirty="0" err="1" smtClean="0"/>
              <a:t>Sharable</a:t>
            </a:r>
            <a:endParaRPr lang="el-GR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67744" y="2708920"/>
            <a:ext cx="4706453" cy="3855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4 - TextBox"/>
          <p:cNvSpPr txBox="1"/>
          <p:nvPr/>
        </p:nvSpPr>
        <p:spPr>
          <a:xfrm>
            <a:off x="1259632" y="1844824"/>
            <a:ext cx="6244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 smtClean="0"/>
              <a:t>Για να κάνω </a:t>
            </a:r>
            <a:r>
              <a:rPr lang="de-DE" dirty="0" err="1" smtClean="0"/>
              <a:t>share</a:t>
            </a:r>
            <a:r>
              <a:rPr lang="el-GR" dirty="0" smtClean="0"/>
              <a:t> κάποιο </a:t>
            </a:r>
            <a:r>
              <a:rPr lang="de-DE" dirty="0" smtClean="0"/>
              <a:t>link</a:t>
            </a:r>
            <a:r>
              <a:rPr lang="el-GR" dirty="0" smtClean="0"/>
              <a:t> σε όλους πρέπει να κάνω </a:t>
            </a:r>
            <a:r>
              <a:rPr lang="de-DE" dirty="0" err="1" smtClean="0"/>
              <a:t>upgrade</a:t>
            </a:r>
            <a:r>
              <a:rPr lang="el-GR" dirty="0" smtClean="0"/>
              <a:t>.</a:t>
            </a:r>
            <a:endParaRPr lang="el-GR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Vercel</a:t>
            </a:r>
            <a:r>
              <a:rPr lang="en-US" dirty="0" smtClean="0"/>
              <a:t> Project</a:t>
            </a:r>
            <a:endParaRPr lang="el-GR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738167"/>
            <a:ext cx="8229600" cy="42500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Links</a:t>
            </a:r>
            <a:endParaRPr lang="el-GR" dirty="0"/>
          </a:p>
        </p:txBody>
      </p:sp>
      <p:sp>
        <p:nvSpPr>
          <p:cNvPr id="3" name="2 - Θέση περιεχομένου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 smtClean="0">
              <a:hlinkClick r:id="rId2" tooltip="https://github.com/Vasilisdi/Vasilisdi-DiplomaUTH_Arduino-Raspberry"/>
            </a:endParaRPr>
          </a:p>
          <a:p>
            <a:r>
              <a:rPr lang="en-US" dirty="0" smtClean="0">
                <a:hlinkClick r:id="rId3" tooltip="https://github.com/Vasilisdi/Vasilisdi-DiplomaUTH_Arduino-Raspberry"/>
              </a:rPr>
              <a:t>https://github.com/Vasilisdi/2.nextjs</a:t>
            </a:r>
            <a:endParaRPr lang="en-US" dirty="0" smtClean="0"/>
          </a:p>
          <a:p>
            <a:r>
              <a:rPr lang="en-US" dirty="0" smtClean="0">
                <a:hlinkClick r:id="rId2"/>
              </a:rPr>
              <a:t>https://github.com/Vasilisdi/Vasilisdi-DiplomaUTH_Arduino-Raspberry</a:t>
            </a:r>
            <a:endParaRPr lang="en-US" dirty="0" smtClean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1449</TotalTime>
  <Words>1068</Words>
  <Application>Microsoft Office PowerPoint</Application>
  <PresentationFormat>Προβολή στην οθόνη (4:3)</PresentationFormat>
  <Paragraphs>108</Paragraphs>
  <Slides>31</Slides>
  <Notes>0</Notes>
  <HiddenSlides>0</HiddenSlides>
  <MMClips>0</MMClips>
  <ScaleCrop>false</ScaleCrop>
  <HeadingPairs>
    <vt:vector size="4" baseType="variant">
      <vt:variant>
        <vt:lpstr>Θέμα</vt:lpstr>
      </vt:variant>
      <vt:variant>
        <vt:i4>1</vt:i4>
      </vt:variant>
      <vt:variant>
        <vt:lpstr>Τίτλοι διαφανειών</vt:lpstr>
      </vt:variant>
      <vt:variant>
        <vt:i4>31</vt:i4>
      </vt:variant>
    </vt:vector>
  </HeadingPairs>
  <TitlesOfParts>
    <vt:vector size="32" baseType="lpstr">
      <vt:lpstr>Θέμα του Office</vt:lpstr>
      <vt:lpstr>Diploma Thesis Tutorial</vt:lpstr>
      <vt:lpstr>Tutorial (1)</vt:lpstr>
      <vt:lpstr>Tutorial (2)</vt:lpstr>
      <vt:lpstr>Tutorial (3)</vt:lpstr>
      <vt:lpstr>Tutorial (4)</vt:lpstr>
      <vt:lpstr>Tutorial (5)</vt:lpstr>
      <vt:lpstr>DETAILS</vt:lpstr>
      <vt:lpstr>Περιγραφή Hardware (1)</vt:lpstr>
      <vt:lpstr>Περιγραφή Hardware (2)</vt:lpstr>
      <vt:lpstr>Περιγραφή Hardware (3)</vt:lpstr>
      <vt:lpstr>Περιγραφή Hardware (4)</vt:lpstr>
      <vt:lpstr>Περιγραφή Software Arduino (1)</vt:lpstr>
      <vt:lpstr>Περιγραφή Software Arduino (2)</vt:lpstr>
      <vt:lpstr>Περιγραφή Software Arduino (3)</vt:lpstr>
      <vt:lpstr>Περιγραφή Software Raspberry (1)</vt:lpstr>
      <vt:lpstr>Περιγραφή Software Raspberry (2)</vt:lpstr>
      <vt:lpstr>Περιγραφή Software Raspberry (3)</vt:lpstr>
      <vt:lpstr>Περιγραφή Software Raspberry (3)</vt:lpstr>
      <vt:lpstr>Παρατηρήσεις</vt:lpstr>
      <vt:lpstr>Περιγραφή αρχείων source code (1)</vt:lpstr>
      <vt:lpstr>Περιγραφή αρχείων source code (2)</vt:lpstr>
      <vt:lpstr>Περιγραφή αρχείων source code (3)</vt:lpstr>
      <vt:lpstr>Supabase (1)</vt:lpstr>
      <vt:lpstr>Supabase (2)</vt:lpstr>
      <vt:lpstr>Supabase (3)</vt:lpstr>
      <vt:lpstr>Raspbian Lite (1)</vt:lpstr>
      <vt:lpstr>Raspbian Lite (2)</vt:lpstr>
      <vt:lpstr>Vercel Setting-Up</vt:lpstr>
      <vt:lpstr>Vercel Sharable</vt:lpstr>
      <vt:lpstr>Vercel Project</vt:lpstr>
      <vt:lpstr>Links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Διαφάνεια 1</dc:title>
  <dc:creator>βασίλης δημητρίου</dc:creator>
  <cp:lastModifiedBy>βασίλης δημητρίου</cp:lastModifiedBy>
  <cp:revision>27</cp:revision>
  <dcterms:created xsi:type="dcterms:W3CDTF">2025-01-16T20:52:41Z</dcterms:created>
  <dcterms:modified xsi:type="dcterms:W3CDTF">2025-09-17T21:42:41Z</dcterms:modified>
</cp:coreProperties>
</file>